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352880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0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GROWTH AUDIT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485319" y="762000"/>
            <a:ext cx="96448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05.2026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957263"/>
            <a:ext cx="1471612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8A7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FOR: ARPIT MAHESHWARI · ARPITMAHESHWARI.COM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457325"/>
            <a:ext cx="14716125" cy="7225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4400" spc="-360" kern="0" dirty="0">
                <a:solidFill>
                  <a:srgbClr val="EF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keeping a senior designer from getting </a:t>
            </a:r>
            <a:pPr algn="l" indent="0" marL="0">
              <a:lnSpc>
                <a:spcPct val="98000"/>
              </a:lnSpc>
              <a:buNone/>
            </a:pPr>
            <a:r>
              <a:rPr lang="en-US" sz="14400" i="1" spc="-360" kern="0" dirty="0">
                <a:solidFill>
                  <a:srgbClr val="F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hired.</a:t>
            </a:r>
            <a:endParaRPr lang="en-US" sz="14400" dirty="0"/>
          </a:p>
        </p:txBody>
      </p:sp>
      <p:sp>
        <p:nvSpPr>
          <p:cNvPr id="6" name="Text 4"/>
          <p:cNvSpPr/>
          <p:nvPr/>
        </p:nvSpPr>
        <p:spPr>
          <a:xfrm>
            <a:off x="914400" y="9026128"/>
            <a:ext cx="10791825" cy="101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C8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audit of the site that should be doing the most expensive job in his career — converting founders to a 30-minute call — and is instead recycling portfolio defaults. Eight findings. Five original home formats. One recommendation.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14400" y="10209907"/>
            <a:ext cx="16459200" cy="9525"/>
          </a:xfrm>
          <a:prstGeom prst="rect">
            <a:avLst/>
          </a:prstGeom>
          <a:solidFill>
            <a:srgbClr val="2A262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24232"/>
            <a:ext cx="5082965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GOAL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10776645"/>
            <a:ext cx="5082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F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founding-designer role · Series Seed–B · AI products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390712" y="10960001"/>
            <a:ext cx="76200" cy="76200"/>
          </a:xfrm>
          <a:prstGeom prst="ellipse">
            <a:avLst/>
          </a:prstGeom>
          <a:solidFill>
            <a:srgbClr val="5FD0A5"/>
          </a:solidFill>
          <a:ln/>
          <a:effectLst>
            <a:outerShdw sx="100000" sy="100000" kx="0" ky="0" algn="bl" rotWithShape="0" blurRad="114300" dist="50800" dir="16200000">
              <a:srgbClr val="5FD0A5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562162" y="10924282"/>
            <a:ext cx="289578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EFEC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FINDINGS · 5 FORMATS · 1 PATH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261401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8A7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STRATEGIC AUDIT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5749513" y="609600"/>
            <a:ext cx="185268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8A7D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EIGHT FINDINGS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62000" y="976312"/>
            <a:ext cx="17266920" cy="1830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200" spc="-180" kern="0" dirty="0">
                <a:solidFill>
                  <a:srgbClr val="1A19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frictions keeping Arpit from getting hired.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62000" y="2882801"/>
            <a:ext cx="1275397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growth lens: content, conversion, mobile, SEO, accessibility, positioning. Ordered by impact on founding-designer-role conversion.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2000" y="3798987"/>
            <a:ext cx="16764000" cy="6102548"/>
          </a:xfrm>
          <a:prstGeom prst="rect">
            <a:avLst/>
          </a:prstGeom>
          <a:solidFill>
            <a:srgbClr val="D8D2C2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1525" y="3808512"/>
            <a:ext cx="8367712" cy="157445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8" name="Text 6"/>
          <p:cNvSpPr/>
          <p:nvPr/>
        </p:nvSpPr>
        <p:spPr>
          <a:xfrm>
            <a:off x="1019175" y="4049018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335881" y="4018062"/>
            <a:ext cx="1036439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10" name="Text 8"/>
          <p:cNvSpPr/>
          <p:nvPr/>
        </p:nvSpPr>
        <p:spPr>
          <a:xfrm>
            <a:off x="1431131" y="4056162"/>
            <a:ext cx="92213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19175" y="4318099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"Book intro call" buttons dilute urgency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9175" y="4687639"/>
            <a:ext cx="81085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CTA repeats 5× saying the same thing. By the third appearance it becomes wallpaper. Replace with contextual micro-CTAs.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9148763" y="3808512"/>
            <a:ext cx="8367712" cy="157445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14" name="Text 12"/>
          <p:cNvSpPr/>
          <p:nvPr/>
        </p:nvSpPr>
        <p:spPr>
          <a:xfrm>
            <a:off x="9396413" y="4049018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713119" y="4018062"/>
            <a:ext cx="951905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16" name="Text 14"/>
          <p:cNvSpPr/>
          <p:nvPr/>
        </p:nvSpPr>
        <p:spPr>
          <a:xfrm>
            <a:off x="9808369" y="4056162"/>
            <a:ext cx="83760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96413" y="4318099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NDA wall kills first-visit conversion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96413" y="4687639"/>
            <a:ext cx="810858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"NDA Protected" appears 5×. Visitors see no actual work. Replace screenshots with downloadable artefacts.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771525" y="5392489"/>
            <a:ext cx="8367712" cy="157445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175" y="5632996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1335881" y="5602039"/>
            <a:ext cx="951905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22" name="Text 20"/>
          <p:cNvSpPr/>
          <p:nvPr/>
        </p:nvSpPr>
        <p:spPr>
          <a:xfrm>
            <a:off x="1431131" y="5640139"/>
            <a:ext cx="83760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HIERARCHY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19175" y="5902077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 is buried at scroll-depth 60%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9175" y="6271617"/>
            <a:ext cx="810858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 from Sahaj, Telefónica, PTC sit halfway down. Hiring managers bounce before reaching them.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9148763" y="5392489"/>
            <a:ext cx="8367712" cy="157445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26" name="Text 24"/>
          <p:cNvSpPr/>
          <p:nvPr/>
        </p:nvSpPr>
        <p:spPr>
          <a:xfrm>
            <a:off x="9396413" y="5632996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9713119" y="5602039"/>
            <a:ext cx="698078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28" name="Text 26"/>
          <p:cNvSpPr/>
          <p:nvPr/>
        </p:nvSpPr>
        <p:spPr>
          <a:xfrm>
            <a:off x="9808369" y="5640139"/>
            <a:ext cx="58377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96413" y="5902077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design feels generic for a designer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96413" y="6271617"/>
            <a:ext cx="81085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confidence meters, schematics, pattern callouts. For someone who designs AI surfaces, the form should embody the practice.</a:t>
            </a:r>
            <a:endParaRPr lang="en-US" sz="1275" dirty="0"/>
          </a:p>
        </p:txBody>
      </p:sp>
      <p:sp>
        <p:nvSpPr>
          <p:cNvPr id="31" name="Shape 29"/>
          <p:cNvSpPr/>
          <p:nvPr/>
        </p:nvSpPr>
        <p:spPr>
          <a:xfrm>
            <a:off x="771525" y="6976467"/>
            <a:ext cx="8367712" cy="157445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32" name="Text 30"/>
          <p:cNvSpPr/>
          <p:nvPr/>
        </p:nvSpPr>
        <p:spPr>
          <a:xfrm>
            <a:off x="1019175" y="7216973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1335881" y="7186017"/>
            <a:ext cx="698078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34" name="Text 32"/>
          <p:cNvSpPr/>
          <p:nvPr/>
        </p:nvSpPr>
        <p:spPr>
          <a:xfrm>
            <a:off x="1431131" y="7224117"/>
            <a:ext cx="58377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9175" y="7486055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is desktop-shrunk, not mobile-first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19175" y="7855595"/>
            <a:ext cx="81085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stack awkwardly. Case studies become tall text walls. No fast-scroll to CTA. Recruiters bounce in seconds.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9148763" y="6976467"/>
            <a:ext cx="8367712" cy="1574453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38" name="Text 36"/>
          <p:cNvSpPr/>
          <p:nvPr/>
        </p:nvSpPr>
        <p:spPr>
          <a:xfrm>
            <a:off x="9396413" y="7216973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9713119" y="7186017"/>
            <a:ext cx="444326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40" name="Text 38"/>
          <p:cNvSpPr/>
          <p:nvPr/>
        </p:nvSpPr>
        <p:spPr>
          <a:xfrm>
            <a:off x="9808369" y="7224117"/>
            <a:ext cx="330026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96413" y="7486055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Substack siloed; domain loses authority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396413" y="7855595"/>
            <a:ext cx="810858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lives off-domain. No FAQ schema, no Person structured data. Recruiters Googling find LinkedIn first.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771525" y="8560445"/>
            <a:ext cx="8367712" cy="133156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44" name="Text 42"/>
          <p:cNvSpPr/>
          <p:nvPr/>
        </p:nvSpPr>
        <p:spPr>
          <a:xfrm>
            <a:off x="1019175" y="8800951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75" dirty="0"/>
          </a:p>
        </p:txBody>
      </p:sp>
      <p:sp>
        <p:nvSpPr>
          <p:cNvPr id="45" name="Shape 43"/>
          <p:cNvSpPr/>
          <p:nvPr/>
        </p:nvSpPr>
        <p:spPr>
          <a:xfrm>
            <a:off x="1335881" y="8769995"/>
            <a:ext cx="1121048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46" name="Text 44"/>
          <p:cNvSpPr/>
          <p:nvPr/>
        </p:nvSpPr>
        <p:spPr>
          <a:xfrm>
            <a:off x="1431131" y="8808095"/>
            <a:ext cx="100674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19175" y="9070032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"15 years" reads as overqualified for founding roles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019175" y="9439573"/>
            <a:ext cx="810858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fear senior designers who won't roll up sleeves. Counter-message: "I code, I read SQL, I ship."</a:t>
            </a:r>
            <a:endParaRPr lang="en-US" sz="1275" dirty="0"/>
          </a:p>
        </p:txBody>
      </p:sp>
      <p:sp>
        <p:nvSpPr>
          <p:cNvPr id="49" name="Shape 47"/>
          <p:cNvSpPr/>
          <p:nvPr/>
        </p:nvSpPr>
        <p:spPr>
          <a:xfrm>
            <a:off x="9148763" y="8560445"/>
            <a:ext cx="8367712" cy="1331565"/>
          </a:xfrm>
          <a:prstGeom prst="rect">
            <a:avLst/>
          </a:prstGeom>
          <a:solidFill>
            <a:srgbClr val="F6F3EC"/>
          </a:solidFill>
          <a:ln/>
        </p:spPr>
      </p:sp>
      <p:sp>
        <p:nvSpPr>
          <p:cNvPr id="50" name="Text 48"/>
          <p:cNvSpPr/>
          <p:nvPr/>
        </p:nvSpPr>
        <p:spPr>
          <a:xfrm>
            <a:off x="9396413" y="8800951"/>
            <a:ext cx="2595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A89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9713119" y="8769995"/>
            <a:ext cx="613470" cy="204788"/>
          </a:xfrm>
          <a:prstGeom prst="rect">
            <a:avLst/>
          </a:prstGeom>
          <a:solidFill>
            <a:srgbClr val="1A1916"/>
          </a:solidFill>
          <a:ln/>
        </p:spPr>
      </p:sp>
      <p:sp>
        <p:nvSpPr>
          <p:cNvPr id="52" name="Text 50"/>
          <p:cNvSpPr/>
          <p:nvPr/>
        </p:nvSpPr>
        <p:spPr>
          <a:xfrm>
            <a:off x="9808369" y="8808095"/>
            <a:ext cx="49917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F6F3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396413" y="9070032"/>
            <a:ext cx="810858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-18" kern="0" dirty="0">
                <a:solidFill>
                  <a:srgbClr val="1A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claim with no observable proof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9396413" y="9439573"/>
            <a:ext cx="810858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64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says "Dyslexia-friendly" but typography doesn't reflect it. Either show the work or remove the claim.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8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4133850" cy="7848600"/>
          </a:xfrm>
          <a:prstGeom prst="roundRect">
            <a:avLst>
              <a:gd name="adj" fmla="val 10138"/>
            </a:avLst>
          </a:prstGeom>
          <a:solidFill>
            <a:srgbClr val="1A1A17"/>
          </a:solidFill>
          <a:ln/>
          <a:effectLst>
            <a:outerShdw sx="100000" sy="100000" kx="0" ky="0" algn="bl" rotWithShape="0" blurRad="857250" dist="476250" dir="5400000">
              <a:srgbClr val="000000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76300" y="723900"/>
            <a:ext cx="3714750" cy="20574000"/>
          </a:xfrm>
          <a:prstGeom prst="rect">
            <a:avLst/>
          </a:prstGeom>
          <a:solidFill>
            <a:srgbClr val="E8E8DF"/>
          </a:solidFill>
          <a:ln/>
        </p:spPr>
      </p:sp>
      <p:sp>
        <p:nvSpPr>
          <p:cNvPr id="4" name="Shape 2"/>
          <p:cNvSpPr/>
          <p:nvPr/>
        </p:nvSpPr>
        <p:spPr>
          <a:xfrm>
            <a:off x="1085850" y="914400"/>
            <a:ext cx="3295650" cy="113154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1047750"/>
            <a:ext cx="9379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 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238250" y="1228725"/>
            <a:ext cx="937989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50" spc="-81" kern="0" dirty="0">
                <a:solidFill>
                  <a:srgbClr val="E8E8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38250" y="1755428"/>
            <a:ext cx="93798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B8E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arpit · maheshwari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792736" y="1047750"/>
            <a:ext cx="43636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v15.2.0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792736" y="1176338"/>
            <a:ext cx="43636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2026-05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792736" y="1343025"/>
            <a:ext cx="43636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HOT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1085850" y="2179290"/>
            <a:ext cx="3394519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spc="-49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treated as a deployable model.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85850" y="2800201"/>
            <a:ext cx="3394519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5A5D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datasheet for hiring a senior product designer for an intelligent system. Modeled on the cards founders already write for the things they ship.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1085850" y="3901529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4" name="Text 12"/>
          <p:cNvSpPr/>
          <p:nvPr/>
        </p:nvSpPr>
        <p:spPr>
          <a:xfrm>
            <a:off x="1085850" y="3644354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1369740" y="3620542"/>
            <a:ext cx="52722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085850" y="3920579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7" name="Text 15"/>
          <p:cNvSpPr/>
          <p:nvPr/>
        </p:nvSpPr>
        <p:spPr>
          <a:xfrm>
            <a:off x="1085850" y="4025354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model_id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2324100" y="4006304"/>
            <a:ext cx="21336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arpit-maheshwari-15-staff</a:t>
            </a:r>
            <a:endParaRPr lang="en-US" sz="938" dirty="0"/>
          </a:p>
        </p:txBody>
      </p:sp>
      <p:sp>
        <p:nvSpPr>
          <p:cNvPr id="19" name="Shape 17"/>
          <p:cNvSpPr/>
          <p:nvPr/>
        </p:nvSpPr>
        <p:spPr>
          <a:xfrm>
            <a:off x="1085850" y="4261098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850" y="4365873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2324100" y="4346823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2026.05 · 1,847 days since last burnout</a:t>
            </a:r>
            <a:endParaRPr lang="en-US" sz="938" dirty="0"/>
          </a:p>
        </p:txBody>
      </p:sp>
      <p:sp>
        <p:nvSpPr>
          <p:cNvPr id="22" name="Shape 20"/>
          <p:cNvSpPr/>
          <p:nvPr/>
        </p:nvSpPr>
        <p:spPr>
          <a:xfrm>
            <a:off x="1085850" y="4780211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23" name="Text 21"/>
          <p:cNvSpPr/>
          <p:nvPr/>
        </p:nvSpPr>
        <p:spPr>
          <a:xfrm>
            <a:off x="1085850" y="4884986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2324100" y="4865936"/>
            <a:ext cx="21336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· references on demand</a:t>
            </a:r>
            <a:endParaRPr lang="en-US" sz="938" dirty="0"/>
          </a:p>
        </p:txBody>
      </p:sp>
      <p:sp>
        <p:nvSpPr>
          <p:cNvPr id="25" name="Shape 23"/>
          <p:cNvSpPr/>
          <p:nvPr/>
        </p:nvSpPr>
        <p:spPr>
          <a:xfrm>
            <a:off x="1085850" y="5120729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26" name="Text 24"/>
          <p:cNvSpPr/>
          <p:nvPr/>
        </p:nvSpPr>
        <p:spPr>
          <a:xfrm>
            <a:off x="1085850" y="5225504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serving_region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2324100" y="5206454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GMT+5:30 · cold-starts in 4h US-East</a:t>
            </a:r>
            <a:endParaRPr lang="en-US" sz="938" dirty="0"/>
          </a:p>
        </p:txBody>
      </p:sp>
      <p:sp>
        <p:nvSpPr>
          <p:cNvPr id="28" name="Shape 26"/>
          <p:cNvSpPr/>
          <p:nvPr/>
        </p:nvSpPr>
        <p:spPr>
          <a:xfrm>
            <a:off x="1085850" y="5639842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29" name="Text 27"/>
          <p:cNvSpPr/>
          <p:nvPr/>
        </p:nvSpPr>
        <p:spPr>
          <a:xfrm>
            <a:off x="1085850" y="5754142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2324100" y="5725567"/>
            <a:ext cx="21336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b="1" dirty="0">
                <a:solidFill>
                  <a:srgbClr val="D4C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AVAILABLE</a:t>
            </a:r>
            <a:endParaRPr lang="en-US" sz="938" dirty="0"/>
          </a:p>
        </p:txBody>
      </p:sp>
      <p:sp>
        <p:nvSpPr>
          <p:cNvPr id="31" name="Shape 29"/>
          <p:cNvSpPr/>
          <p:nvPr/>
        </p:nvSpPr>
        <p:spPr>
          <a:xfrm>
            <a:off x="1085850" y="6470898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32" name="Text 30"/>
          <p:cNvSpPr/>
          <p:nvPr/>
        </p:nvSpPr>
        <p:spPr>
          <a:xfrm>
            <a:off x="1085850" y="6213723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§02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369740" y="6189911"/>
            <a:ext cx="15539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characteristics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1085850" y="6489948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35" name="Text 33"/>
          <p:cNvSpPr/>
          <p:nvPr/>
        </p:nvSpPr>
        <p:spPr>
          <a:xfrm>
            <a:off x="1085850" y="6594723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latency_p50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2324100" y="6575673"/>
            <a:ext cx="21336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14h waking · 0h sleeping · ¹</a:t>
            </a:r>
            <a:endParaRPr lang="en-US" sz="938" dirty="0"/>
          </a:p>
        </p:txBody>
      </p:sp>
      <p:sp>
        <p:nvSpPr>
          <p:cNvPr id="37" name="Shape 35"/>
          <p:cNvSpPr/>
          <p:nvPr/>
        </p:nvSpPr>
        <p:spPr>
          <a:xfrm>
            <a:off x="1085850" y="6830467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38" name="Text 36"/>
          <p:cNvSpPr/>
          <p:nvPr/>
        </p:nvSpPr>
        <p:spPr>
          <a:xfrm>
            <a:off x="1085850" y="6935242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context_window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2324100" y="6916192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stakeholders before degradation · ²</a:t>
            </a:r>
            <a:endParaRPr lang="en-US" sz="938" dirty="0"/>
          </a:p>
        </p:txBody>
      </p:sp>
      <p:sp>
        <p:nvSpPr>
          <p:cNvPr id="40" name="Shape 38"/>
          <p:cNvSpPr/>
          <p:nvPr/>
        </p:nvSpPr>
        <p:spPr>
          <a:xfrm>
            <a:off x="1085850" y="7349579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41" name="Text 39"/>
          <p:cNvSpPr/>
          <p:nvPr/>
        </p:nvSpPr>
        <p:spPr>
          <a:xfrm>
            <a:off x="1085850" y="7454354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788" dirty="0"/>
          </a:p>
        </p:txBody>
      </p:sp>
      <p:sp>
        <p:nvSpPr>
          <p:cNvPr id="42" name="Text 40"/>
          <p:cNvSpPr/>
          <p:nvPr/>
        </p:nvSpPr>
        <p:spPr>
          <a:xfrm>
            <a:off x="2324100" y="7435304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 before lunch · 0.3 after · 0.0 in crit</a:t>
            </a:r>
            <a:endParaRPr lang="en-US" sz="938" dirty="0"/>
          </a:p>
        </p:txBody>
      </p:sp>
      <p:sp>
        <p:nvSpPr>
          <p:cNvPr id="43" name="Shape 41"/>
          <p:cNvSpPr/>
          <p:nvPr/>
        </p:nvSpPr>
        <p:spPr>
          <a:xfrm>
            <a:off x="1085850" y="7868692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44" name="Text 42"/>
          <p:cNvSpPr/>
          <p:nvPr/>
        </p:nvSpPr>
        <p:spPr>
          <a:xfrm>
            <a:off x="1085850" y="7973467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top_k_inputs</a:t>
            </a:r>
            <a:endParaRPr lang="en-US" sz="788" dirty="0"/>
          </a:p>
        </p:txBody>
      </p:sp>
      <p:sp>
        <p:nvSpPr>
          <p:cNvPr id="45" name="Text 43"/>
          <p:cNvSpPr/>
          <p:nvPr/>
        </p:nvSpPr>
        <p:spPr>
          <a:xfrm>
            <a:off x="2324100" y="7954417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crits, SQL, model perf, real users</a:t>
            </a:r>
            <a:endParaRPr lang="en-US" sz="938" dirty="0"/>
          </a:p>
        </p:txBody>
      </p:sp>
      <p:sp>
        <p:nvSpPr>
          <p:cNvPr id="46" name="Shape 44"/>
          <p:cNvSpPr/>
          <p:nvPr/>
        </p:nvSpPr>
        <p:spPr>
          <a:xfrm>
            <a:off x="1085850" y="8387804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47" name="Text 45"/>
          <p:cNvSpPr/>
          <p:nvPr/>
        </p:nvSpPr>
        <p:spPr>
          <a:xfrm>
            <a:off x="1085850" y="8492579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2324100" y="8473529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prefers to · ships drafts at 60%</a:t>
            </a:r>
            <a:endParaRPr lang="en-US" sz="938" dirty="0"/>
          </a:p>
        </p:txBody>
      </p:sp>
      <p:sp>
        <p:nvSpPr>
          <p:cNvPr id="49" name="Shape 47"/>
          <p:cNvSpPr/>
          <p:nvPr/>
        </p:nvSpPr>
        <p:spPr>
          <a:xfrm>
            <a:off x="1085850" y="8906917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50" name="Text 48"/>
          <p:cNvSpPr/>
          <p:nvPr/>
        </p:nvSpPr>
        <p:spPr>
          <a:xfrm>
            <a:off x="1085850" y="9011692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2324100" y="8992642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ships at week 6 · iterates to week 12</a:t>
            </a:r>
            <a:endParaRPr lang="en-US" sz="938" dirty="0"/>
          </a:p>
        </p:txBody>
      </p:sp>
      <p:sp>
        <p:nvSpPr>
          <p:cNvPr id="52" name="Shape 50"/>
          <p:cNvSpPr/>
          <p:nvPr/>
        </p:nvSpPr>
        <p:spPr>
          <a:xfrm>
            <a:off x="1085850" y="9916567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53" name="Text 51"/>
          <p:cNvSpPr/>
          <p:nvPr/>
        </p:nvSpPr>
        <p:spPr>
          <a:xfrm>
            <a:off x="1085850" y="9659392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§03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1369740" y="9635579"/>
            <a:ext cx="84646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use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1085850" y="9935617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56" name="Text 54"/>
          <p:cNvSpPr/>
          <p:nvPr/>
        </p:nvSpPr>
        <p:spPr>
          <a:xfrm>
            <a:off x="1085850" y="10049917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788" dirty="0"/>
          </a:p>
        </p:txBody>
      </p:sp>
      <p:sp>
        <p:nvSpPr>
          <p:cNvPr id="57" name="Text 55"/>
          <p:cNvSpPr/>
          <p:nvPr/>
        </p:nvSpPr>
        <p:spPr>
          <a:xfrm>
            <a:off x="2324100" y="10021342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#1 or #2 · Series Seed–B · AI-product</a:t>
            </a:r>
            <a:endParaRPr lang="en-US" sz="938" dirty="0"/>
          </a:p>
        </p:txBody>
      </p:sp>
      <p:sp>
        <p:nvSpPr>
          <p:cNvPr id="58" name="Shape 56"/>
          <p:cNvSpPr/>
          <p:nvPr/>
        </p:nvSpPr>
        <p:spPr>
          <a:xfrm>
            <a:off x="1085850" y="10454729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59" name="Text 57"/>
          <p:cNvSpPr/>
          <p:nvPr/>
        </p:nvSpPr>
        <p:spPr>
          <a:xfrm>
            <a:off x="1085850" y="10569029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best_paired_with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2324100" y="10540454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founder · 2-7 engineers · 1 PM · no design org</a:t>
            </a:r>
            <a:endParaRPr lang="en-US" sz="938" dirty="0"/>
          </a:p>
        </p:txBody>
      </p:sp>
      <p:sp>
        <p:nvSpPr>
          <p:cNvPr id="61" name="Shape 59"/>
          <p:cNvSpPr/>
          <p:nvPr/>
        </p:nvSpPr>
        <p:spPr>
          <a:xfrm>
            <a:off x="1085850" y="10973842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62" name="Text 60"/>
          <p:cNvSpPr/>
          <p:nvPr/>
        </p:nvSpPr>
        <p:spPr>
          <a:xfrm>
            <a:off x="1085850" y="11088142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downstream_tasks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2324100" y="11059567"/>
            <a:ext cx="2133600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product UX · prototype-to-ship · pattern systems · accessibility scaffolding · design ops</a:t>
            </a:r>
            <a:endParaRPr lang="en-US" sz="938" dirty="0"/>
          </a:p>
        </p:txBody>
      </p:sp>
      <p:sp>
        <p:nvSpPr>
          <p:cNvPr id="64" name="Shape 62"/>
          <p:cNvSpPr/>
          <p:nvPr/>
        </p:nvSpPr>
        <p:spPr>
          <a:xfrm>
            <a:off x="1085850" y="12162086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65" name="Text 63"/>
          <p:cNvSpPr/>
          <p:nvPr/>
        </p:nvSpPr>
        <p:spPr>
          <a:xfrm>
            <a:off x="1085850" y="11904911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A8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§04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1369740" y="11881098"/>
            <a:ext cx="190730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Out-of-distribution · will refuse</a:t>
            </a:r>
            <a:endParaRPr lang="en-US" sz="975" dirty="0"/>
          </a:p>
        </p:txBody>
      </p:sp>
      <p:sp>
        <p:nvSpPr>
          <p:cNvPr id="67" name="Shape 65"/>
          <p:cNvSpPr/>
          <p:nvPr/>
        </p:nvSpPr>
        <p:spPr>
          <a:xfrm>
            <a:off x="1085850" y="12181136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68" name="Text 66"/>
          <p:cNvSpPr/>
          <p:nvPr/>
        </p:nvSpPr>
        <p:spPr>
          <a:xfrm>
            <a:off x="1085850" y="12295436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will_not_serve</a:t>
            </a:r>
            <a:endParaRPr lang="en-US" sz="788" dirty="0"/>
          </a:p>
        </p:txBody>
      </p:sp>
      <p:sp>
        <p:nvSpPr>
          <p:cNvPr id="69" name="Text 67"/>
          <p:cNvSpPr/>
          <p:nvPr/>
        </p:nvSpPr>
        <p:spPr>
          <a:xfrm>
            <a:off x="2324100" y="12266861"/>
            <a:ext cx="21336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brand sprints · marketing graphics · "make our AI feel more human" · investor-deck-driven roadmaps · NDA-signed-after-pitch</a:t>
            </a:r>
            <a:endParaRPr lang="en-US" sz="938" dirty="0"/>
          </a:p>
        </p:txBody>
      </p:sp>
      <p:sp>
        <p:nvSpPr>
          <p:cNvPr id="70" name="Shape 68"/>
          <p:cNvSpPr/>
          <p:nvPr/>
        </p:nvSpPr>
        <p:spPr>
          <a:xfrm>
            <a:off x="1085850" y="13057436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71" name="Text 69"/>
          <p:cNvSpPr/>
          <p:nvPr/>
        </p:nvSpPr>
        <p:spPr>
          <a:xfrm>
            <a:off x="1085850" y="13171736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declines</a:t>
            </a:r>
            <a:endParaRPr lang="en-US" sz="788" dirty="0"/>
          </a:p>
        </p:txBody>
      </p:sp>
      <p:sp>
        <p:nvSpPr>
          <p:cNvPr id="72" name="Text 70"/>
          <p:cNvSpPr/>
          <p:nvPr/>
        </p:nvSpPr>
        <p:spPr>
          <a:xfrm>
            <a:off x="2324100" y="13143161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products without explainability surface</a:t>
            </a:r>
            <a:endParaRPr lang="en-US" sz="938" dirty="0"/>
          </a:p>
        </p:txBody>
      </p:sp>
      <p:sp>
        <p:nvSpPr>
          <p:cNvPr id="73" name="Shape 71"/>
          <p:cNvSpPr/>
          <p:nvPr/>
        </p:nvSpPr>
        <p:spPr>
          <a:xfrm>
            <a:off x="1085850" y="13576548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74" name="Text 72"/>
          <p:cNvSpPr/>
          <p:nvPr/>
        </p:nvSpPr>
        <p:spPr>
          <a:xfrm>
            <a:off x="1085850" y="13690848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hallucinates_when</a:t>
            </a:r>
            <a:endParaRPr lang="en-US" sz="788" dirty="0"/>
          </a:p>
        </p:txBody>
      </p:sp>
      <p:sp>
        <p:nvSpPr>
          <p:cNvPr id="75" name="Text 73"/>
          <p:cNvSpPr/>
          <p:nvPr/>
        </p:nvSpPr>
        <p:spPr>
          <a:xfrm>
            <a:off x="2324100" y="13662273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deadline before a problem statement</a:t>
            </a:r>
            <a:endParaRPr lang="en-US" sz="938" dirty="0"/>
          </a:p>
        </p:txBody>
      </p:sp>
      <p:sp>
        <p:nvSpPr>
          <p:cNvPr id="76" name="Shape 74"/>
          <p:cNvSpPr/>
          <p:nvPr/>
        </p:nvSpPr>
        <p:spPr>
          <a:xfrm>
            <a:off x="1085850" y="14586198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77" name="Text 75"/>
          <p:cNvSpPr/>
          <p:nvPr/>
        </p:nvSpPr>
        <p:spPr>
          <a:xfrm>
            <a:off x="1085850" y="14329023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§05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1369740" y="14305211"/>
            <a:ext cx="182850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· n=5 deployments</a:t>
            </a:r>
            <a:endParaRPr lang="en-US" sz="975" dirty="0"/>
          </a:p>
        </p:txBody>
      </p:sp>
      <p:sp>
        <p:nvSpPr>
          <p:cNvPr id="79" name="Shape 77"/>
          <p:cNvSpPr/>
          <p:nvPr/>
        </p:nvSpPr>
        <p:spPr>
          <a:xfrm>
            <a:off x="1085850" y="16581686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80" name="Shape 78"/>
          <p:cNvSpPr/>
          <p:nvPr/>
        </p:nvSpPr>
        <p:spPr>
          <a:xfrm>
            <a:off x="1085850" y="14700498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81" name="Text 79"/>
          <p:cNvSpPr/>
          <p:nvPr/>
        </p:nvSpPr>
        <p:spPr>
          <a:xfrm>
            <a:off x="1085850" y="14843373"/>
            <a:ext cx="164782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29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workflow_throughput</a:t>
            </a:r>
            <a:endParaRPr lang="en-US" sz="713" dirty="0"/>
          </a:p>
        </p:txBody>
      </p:sp>
      <p:sp>
        <p:nvSpPr>
          <p:cNvPr id="82" name="Text 80"/>
          <p:cNvSpPr/>
          <p:nvPr/>
        </p:nvSpPr>
        <p:spPr>
          <a:xfrm>
            <a:off x="1085850" y="15017204"/>
            <a:ext cx="79444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39" kern="0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+3.0×</a:t>
            </a:r>
            <a:endParaRPr lang="en-US" sz="1950" dirty="0"/>
          </a:p>
        </p:txBody>
      </p:sp>
      <p:sp>
        <p:nvSpPr>
          <p:cNvPr id="83" name="Text 81"/>
          <p:cNvSpPr/>
          <p:nvPr/>
        </p:nvSpPr>
        <p:spPr>
          <a:xfrm>
            <a:off x="1861245" y="15193417"/>
            <a:ext cx="30487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7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±0.2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085850" y="15426779"/>
            <a:ext cx="1647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adtech-us-uk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809875" y="14843373"/>
            <a:ext cx="164782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29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screening_latency</a:t>
            </a:r>
            <a:endParaRPr lang="en-US" sz="713" dirty="0"/>
          </a:p>
        </p:txBody>
      </p:sp>
      <p:sp>
        <p:nvSpPr>
          <p:cNvPr id="86" name="Text 84"/>
          <p:cNvSpPr/>
          <p:nvPr/>
        </p:nvSpPr>
        <p:spPr>
          <a:xfrm>
            <a:off x="2809875" y="15017204"/>
            <a:ext cx="6507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39" kern="0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−60%</a:t>
            </a:r>
            <a:endParaRPr lang="en-US" sz="1950" dirty="0"/>
          </a:p>
        </p:txBody>
      </p:sp>
      <p:sp>
        <p:nvSpPr>
          <p:cNvPr id="87" name="Text 85"/>
          <p:cNvSpPr/>
          <p:nvPr/>
        </p:nvSpPr>
        <p:spPr>
          <a:xfrm>
            <a:off x="3441576" y="15193417"/>
            <a:ext cx="247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7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±5%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2809875" y="15426779"/>
            <a:ext cx="1647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pe-screening-2024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085850" y="15722054"/>
            <a:ext cx="164782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29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support_volume</a:t>
            </a:r>
            <a:endParaRPr lang="en-US" sz="713" dirty="0"/>
          </a:p>
        </p:txBody>
      </p:sp>
      <p:sp>
        <p:nvSpPr>
          <p:cNvPr id="90" name="Text 88"/>
          <p:cNvSpPr/>
          <p:nvPr/>
        </p:nvSpPr>
        <p:spPr>
          <a:xfrm>
            <a:off x="1085850" y="15895886"/>
            <a:ext cx="6507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39" kern="0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−40%</a:t>
            </a:r>
            <a:endParaRPr lang="en-US" sz="1950" dirty="0"/>
          </a:p>
        </p:txBody>
      </p:sp>
      <p:sp>
        <p:nvSpPr>
          <p:cNvPr id="91" name="Text 89"/>
          <p:cNvSpPr/>
          <p:nvPr/>
        </p:nvSpPr>
        <p:spPr>
          <a:xfrm>
            <a:off x="1717551" y="16072098"/>
            <a:ext cx="2477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3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±3%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1085850" y="16305461"/>
            <a:ext cx="1647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o2-priority-1m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2809875" y="15722054"/>
            <a:ext cx="164782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29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accessible_reach</a:t>
            </a:r>
            <a:endParaRPr lang="en-US" sz="713" dirty="0"/>
          </a:p>
        </p:txBody>
      </p:sp>
      <p:sp>
        <p:nvSpPr>
          <p:cNvPr id="94" name="Text 92"/>
          <p:cNvSpPr/>
          <p:nvPr/>
        </p:nvSpPr>
        <p:spPr>
          <a:xfrm>
            <a:off x="2809875" y="15895886"/>
            <a:ext cx="6507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39" kern="0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550k</a:t>
            </a:r>
            <a:endParaRPr lang="en-US" sz="1950" dirty="0"/>
          </a:p>
        </p:txBody>
      </p:sp>
      <p:sp>
        <p:nvSpPr>
          <p:cNvPr id="95" name="Text 93"/>
          <p:cNvSpPr/>
          <p:nvPr/>
        </p:nvSpPr>
        <p:spPr>
          <a:xfrm>
            <a:off x="3441576" y="16072098"/>
            <a:ext cx="4763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3A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wcag-aa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2809875" y="16305461"/>
            <a:ext cx="16478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ptc-11-locale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1085850" y="17091273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98" name="Text 96"/>
          <p:cNvSpPr/>
          <p:nvPr/>
        </p:nvSpPr>
        <p:spPr>
          <a:xfrm>
            <a:off x="1085850" y="16834098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§06</a:t>
            </a:r>
            <a:endParaRPr lang="en-US" sz="825" dirty="0"/>
          </a:p>
        </p:txBody>
      </p:sp>
      <p:sp>
        <p:nvSpPr>
          <p:cNvPr id="99" name="Text 97"/>
          <p:cNvSpPr/>
          <p:nvPr/>
        </p:nvSpPr>
        <p:spPr>
          <a:xfrm>
            <a:off x="1369740" y="16810286"/>
            <a:ext cx="155272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run · 2010–2026</a:t>
            </a:r>
            <a:endParaRPr lang="en-US" sz="975" dirty="0"/>
          </a:p>
        </p:txBody>
      </p:sp>
      <p:sp>
        <p:nvSpPr>
          <p:cNvPr id="100" name="Shape 98"/>
          <p:cNvSpPr/>
          <p:nvPr/>
        </p:nvSpPr>
        <p:spPr>
          <a:xfrm>
            <a:off x="1085850" y="17110323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01" name="Text 99"/>
          <p:cNvSpPr/>
          <p:nvPr/>
        </p:nvSpPr>
        <p:spPr>
          <a:xfrm>
            <a:off x="1085850" y="17215098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2010_2013</a:t>
            </a:r>
            <a:endParaRPr lang="en-US" sz="788" dirty="0"/>
          </a:p>
        </p:txBody>
      </p:sp>
      <p:sp>
        <p:nvSpPr>
          <p:cNvPr id="102" name="Text 100"/>
          <p:cNvSpPr/>
          <p:nvPr/>
        </p:nvSpPr>
        <p:spPr>
          <a:xfrm>
            <a:off x="2324100" y="17196048"/>
            <a:ext cx="2133600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screen-readers · 11 locales · accessibility-as-foundation</a:t>
            </a:r>
            <a:endParaRPr lang="en-US" sz="938" dirty="0"/>
          </a:p>
        </p:txBody>
      </p:sp>
      <p:sp>
        <p:nvSpPr>
          <p:cNvPr id="103" name="Shape 101"/>
          <p:cNvSpPr/>
          <p:nvPr/>
        </p:nvSpPr>
        <p:spPr>
          <a:xfrm>
            <a:off x="1085850" y="17808029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85850" y="17912804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2014_2017</a:t>
            </a:r>
            <a:endParaRPr lang="en-US" sz="788" dirty="0"/>
          </a:p>
        </p:txBody>
      </p:sp>
      <p:sp>
        <p:nvSpPr>
          <p:cNvPr id="105" name="Text 103"/>
          <p:cNvSpPr/>
          <p:nvPr/>
        </p:nvSpPr>
        <p:spPr>
          <a:xfrm>
            <a:off x="2324100" y="17893754"/>
            <a:ext cx="2133600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multi-tenant SaaS · enterprise IA · design system v0</a:t>
            </a:r>
            <a:endParaRPr lang="en-US" sz="938" dirty="0"/>
          </a:p>
        </p:txBody>
      </p:sp>
      <p:sp>
        <p:nvSpPr>
          <p:cNvPr id="106" name="Shape 104"/>
          <p:cNvSpPr/>
          <p:nvPr/>
        </p:nvSpPr>
        <p:spPr>
          <a:xfrm>
            <a:off x="1085850" y="18505736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07" name="Text 105"/>
          <p:cNvSpPr/>
          <p:nvPr/>
        </p:nvSpPr>
        <p:spPr>
          <a:xfrm>
            <a:off x="1085850" y="18610511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2018_2020</a:t>
            </a:r>
            <a:endParaRPr lang="en-US" sz="788" dirty="0"/>
          </a:p>
        </p:txBody>
      </p:sp>
      <p:sp>
        <p:nvSpPr>
          <p:cNvPr id="108" name="Text 106"/>
          <p:cNvSpPr/>
          <p:nvPr/>
        </p:nvSpPr>
        <p:spPr>
          <a:xfrm>
            <a:off x="2324100" y="18591461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telecom @ 1M+ · self-service over call-center</a:t>
            </a:r>
            <a:endParaRPr lang="en-US" sz="938" dirty="0"/>
          </a:p>
        </p:txBody>
      </p:sp>
      <p:sp>
        <p:nvSpPr>
          <p:cNvPr id="109" name="Shape 107"/>
          <p:cNvSpPr/>
          <p:nvPr/>
        </p:nvSpPr>
        <p:spPr>
          <a:xfrm>
            <a:off x="1085850" y="19024848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10" name="Text 108"/>
          <p:cNvSpPr/>
          <p:nvPr/>
        </p:nvSpPr>
        <p:spPr>
          <a:xfrm>
            <a:off x="1085850" y="19129623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2021_2023</a:t>
            </a:r>
            <a:endParaRPr lang="en-US" sz="788" dirty="0"/>
          </a:p>
        </p:txBody>
      </p:sp>
      <p:sp>
        <p:nvSpPr>
          <p:cNvPr id="111" name="Text 109"/>
          <p:cNvSpPr/>
          <p:nvPr/>
        </p:nvSpPr>
        <p:spPr>
          <a:xfrm>
            <a:off x="2324100" y="19110573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adtech ML · confidence UIs · org-OS shipped sole</a:t>
            </a:r>
            <a:endParaRPr lang="en-US" sz="938" dirty="0"/>
          </a:p>
        </p:txBody>
      </p:sp>
      <p:sp>
        <p:nvSpPr>
          <p:cNvPr id="112" name="Shape 110"/>
          <p:cNvSpPr/>
          <p:nvPr/>
        </p:nvSpPr>
        <p:spPr>
          <a:xfrm>
            <a:off x="1085850" y="19543961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13" name="Text 111"/>
          <p:cNvSpPr/>
          <p:nvPr/>
        </p:nvSpPr>
        <p:spPr>
          <a:xfrm>
            <a:off x="1085850" y="19648736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2024_2026</a:t>
            </a:r>
            <a:endParaRPr lang="en-US" sz="788" dirty="0"/>
          </a:p>
        </p:txBody>
      </p:sp>
      <p:sp>
        <p:nvSpPr>
          <p:cNvPr id="114" name="Text 112"/>
          <p:cNvSpPr/>
          <p:nvPr/>
        </p:nvSpPr>
        <p:spPr>
          <a:xfrm>
            <a:off x="2324100" y="19629686"/>
            <a:ext cx="2133600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 screening · explainability layers · the pattern lib</a:t>
            </a:r>
            <a:endParaRPr lang="en-US" sz="938" dirty="0"/>
          </a:p>
        </p:txBody>
      </p:sp>
      <p:sp>
        <p:nvSpPr>
          <p:cNvPr id="115" name="Shape 113"/>
          <p:cNvSpPr/>
          <p:nvPr/>
        </p:nvSpPr>
        <p:spPr>
          <a:xfrm>
            <a:off x="1085850" y="20732204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16" name="Text 114"/>
          <p:cNvSpPr/>
          <p:nvPr/>
        </p:nvSpPr>
        <p:spPr>
          <a:xfrm>
            <a:off x="1085850" y="20475029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A8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§07</a:t>
            </a:r>
            <a:endParaRPr lang="en-US" sz="825" dirty="0"/>
          </a:p>
        </p:txBody>
      </p:sp>
      <p:sp>
        <p:nvSpPr>
          <p:cNvPr id="117" name="Text 115"/>
          <p:cNvSpPr/>
          <p:nvPr/>
        </p:nvSpPr>
        <p:spPr>
          <a:xfrm>
            <a:off x="1369740" y="20451217"/>
            <a:ext cx="113228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975" dirty="0"/>
          </a:p>
        </p:txBody>
      </p:sp>
      <p:sp>
        <p:nvSpPr>
          <p:cNvPr id="118" name="Shape 116"/>
          <p:cNvSpPr/>
          <p:nvPr/>
        </p:nvSpPr>
        <p:spPr>
          <a:xfrm>
            <a:off x="1085850" y="20751254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19" name="Text 117"/>
          <p:cNvSpPr/>
          <p:nvPr/>
        </p:nvSpPr>
        <p:spPr>
          <a:xfrm>
            <a:off x="1085850" y="20574000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latency_us_east</a:t>
            </a:r>
            <a:endParaRPr lang="en-US" sz="788" dirty="0"/>
          </a:p>
        </p:txBody>
      </p:sp>
      <p:sp>
        <p:nvSpPr>
          <p:cNvPr id="120" name="Text 118"/>
          <p:cNvSpPr/>
          <p:nvPr/>
        </p:nvSpPr>
        <p:spPr>
          <a:xfrm>
            <a:off x="2324100" y="20574000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4–5h overlap · async-first 6 yr · no calls before 4pm IST</a:t>
            </a:r>
            <a:endParaRPr lang="en-US" sz="938" dirty="0"/>
          </a:p>
        </p:txBody>
      </p:sp>
      <p:sp>
        <p:nvSpPr>
          <p:cNvPr id="121" name="Shape 119"/>
          <p:cNvSpPr/>
          <p:nvPr/>
        </p:nvSpPr>
        <p:spPr>
          <a:xfrm>
            <a:off x="1085850" y="21270367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22" name="Text 120"/>
          <p:cNvSpPr/>
          <p:nvPr/>
        </p:nvSpPr>
        <p:spPr>
          <a:xfrm>
            <a:off x="1085850" y="20574000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portfolio_access</a:t>
            </a:r>
            <a:endParaRPr lang="en-US" sz="788" dirty="0"/>
          </a:p>
        </p:txBody>
      </p:sp>
      <p:sp>
        <p:nvSpPr>
          <p:cNvPr id="123" name="Text 121"/>
          <p:cNvSpPr/>
          <p:nvPr/>
        </p:nvSpPr>
        <p:spPr>
          <a:xfrm>
            <a:off x="2324100" y="20574000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work NDA-protected · cite §08 for verifiable peer attestation</a:t>
            </a:r>
            <a:endParaRPr lang="en-US" sz="938" dirty="0"/>
          </a:p>
        </p:txBody>
      </p:sp>
      <p:sp>
        <p:nvSpPr>
          <p:cNvPr id="124" name="Shape 122"/>
          <p:cNvSpPr/>
          <p:nvPr/>
        </p:nvSpPr>
        <p:spPr>
          <a:xfrm>
            <a:off x="1085850" y="21789479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25" name="Text 123"/>
          <p:cNvSpPr/>
          <p:nvPr/>
        </p:nvSpPr>
        <p:spPr>
          <a:xfrm>
            <a:off x="1085850" y="20574000"/>
            <a:ext cx="11811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16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weak_at</a:t>
            </a:r>
            <a:endParaRPr lang="en-US" sz="788" dirty="0"/>
          </a:p>
        </p:txBody>
      </p:sp>
      <p:sp>
        <p:nvSpPr>
          <p:cNvPr id="126" name="Text 124"/>
          <p:cNvSpPr/>
          <p:nvPr/>
        </p:nvSpPr>
        <p:spPr>
          <a:xfrm>
            <a:off x="2324100" y="20574000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UX · pure data viz tools · markets that reward maximalism</a:t>
            </a:r>
            <a:endParaRPr lang="en-US" sz="938" dirty="0"/>
          </a:p>
        </p:txBody>
      </p:sp>
      <p:sp>
        <p:nvSpPr>
          <p:cNvPr id="127" name="Shape 125"/>
          <p:cNvSpPr/>
          <p:nvPr/>
        </p:nvSpPr>
        <p:spPr>
          <a:xfrm>
            <a:off x="1085850" y="22799129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28" name="Text 126"/>
          <p:cNvSpPr/>
          <p:nvPr/>
        </p:nvSpPr>
        <p:spPr>
          <a:xfrm>
            <a:off x="1085850" y="20574000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B8E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§08</a:t>
            </a:r>
            <a:endParaRPr lang="en-US" sz="825" dirty="0"/>
          </a:p>
        </p:txBody>
      </p:sp>
      <p:sp>
        <p:nvSpPr>
          <p:cNvPr id="129" name="Text 127"/>
          <p:cNvSpPr/>
          <p:nvPr/>
        </p:nvSpPr>
        <p:spPr>
          <a:xfrm>
            <a:off x="1369740" y="20574000"/>
            <a:ext cx="94468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· n=4</a:t>
            </a:r>
            <a:endParaRPr lang="en-US" sz="975" dirty="0"/>
          </a:p>
        </p:txBody>
      </p:sp>
      <p:sp>
        <p:nvSpPr>
          <p:cNvPr id="130" name="Shape 128"/>
          <p:cNvSpPr/>
          <p:nvPr/>
        </p:nvSpPr>
        <p:spPr>
          <a:xfrm>
            <a:off x="1085850" y="22818179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31" name="Text 129"/>
          <p:cNvSpPr/>
          <p:nvPr/>
        </p:nvSpPr>
        <p:spPr>
          <a:xfrm>
            <a:off x="1085850" y="20574000"/>
            <a:ext cx="11811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sahaj.eng-lead</a:t>
            </a:r>
            <a:endParaRPr lang="en-US" sz="713" dirty="0"/>
          </a:p>
        </p:txBody>
      </p:sp>
      <p:sp>
        <p:nvSpPr>
          <p:cNvPr id="132" name="Text 130"/>
          <p:cNvSpPr/>
          <p:nvPr/>
        </p:nvSpPr>
        <p:spPr>
          <a:xfrm>
            <a:off x="2324100" y="20574000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i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Reads the model card before he reads the design brief. "</a:t>
            </a:r>
            <a:endParaRPr lang="en-US" sz="938" dirty="0"/>
          </a:p>
        </p:txBody>
      </p:sp>
      <p:sp>
        <p:nvSpPr>
          <p:cNvPr id="133" name="Shape 131"/>
          <p:cNvSpPr/>
          <p:nvPr/>
        </p:nvSpPr>
        <p:spPr>
          <a:xfrm>
            <a:off x="1085850" y="23375392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34" name="Text 132"/>
          <p:cNvSpPr/>
          <p:nvPr/>
        </p:nvSpPr>
        <p:spPr>
          <a:xfrm>
            <a:off x="1085850" y="20574000"/>
            <a:ext cx="11811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sahaj.data</a:t>
            </a:r>
            <a:endParaRPr lang="en-US" sz="713" dirty="0"/>
          </a:p>
        </p:txBody>
      </p:sp>
      <p:sp>
        <p:nvSpPr>
          <p:cNvPr id="135" name="Text 133"/>
          <p:cNvSpPr/>
          <p:nvPr/>
        </p:nvSpPr>
        <p:spPr>
          <a:xfrm>
            <a:off x="2324100" y="20574000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i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First designer who asked which feature I weighted least. "</a:t>
            </a:r>
            <a:endParaRPr lang="en-US" sz="938" dirty="0"/>
          </a:p>
        </p:txBody>
      </p:sp>
      <p:sp>
        <p:nvSpPr>
          <p:cNvPr id="136" name="Shape 134"/>
          <p:cNvSpPr/>
          <p:nvPr/>
        </p:nvSpPr>
        <p:spPr>
          <a:xfrm>
            <a:off x="1085850" y="23932604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37" name="Text 135"/>
          <p:cNvSpPr/>
          <p:nvPr/>
        </p:nvSpPr>
        <p:spPr>
          <a:xfrm>
            <a:off x="1085850" y="20574000"/>
            <a:ext cx="11811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telefonica.po</a:t>
            </a:r>
            <a:endParaRPr lang="en-US" sz="713" dirty="0"/>
          </a:p>
        </p:txBody>
      </p:sp>
      <p:sp>
        <p:nvSpPr>
          <p:cNvPr id="138" name="Text 136"/>
          <p:cNvSpPr/>
          <p:nvPr/>
        </p:nvSpPr>
        <p:spPr>
          <a:xfrm>
            <a:off x="2324100" y="20574000"/>
            <a:ext cx="21336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i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Removed thirty four screens. Nobody noticed they were gone. "</a:t>
            </a:r>
            <a:endParaRPr lang="en-US" sz="938" dirty="0"/>
          </a:p>
        </p:txBody>
      </p:sp>
      <p:sp>
        <p:nvSpPr>
          <p:cNvPr id="139" name="Shape 137"/>
          <p:cNvSpPr/>
          <p:nvPr/>
        </p:nvSpPr>
        <p:spPr>
          <a:xfrm>
            <a:off x="1085850" y="24489817"/>
            <a:ext cx="32956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40" name="Text 138"/>
          <p:cNvSpPr/>
          <p:nvPr/>
        </p:nvSpPr>
        <p:spPr>
          <a:xfrm>
            <a:off x="1085850" y="20574000"/>
            <a:ext cx="1181100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ptc.locale-pm</a:t>
            </a:r>
            <a:endParaRPr lang="en-US" sz="713" dirty="0"/>
          </a:p>
        </p:txBody>
      </p:sp>
      <p:sp>
        <p:nvSpPr>
          <p:cNvPr id="141" name="Text 139"/>
          <p:cNvSpPr/>
          <p:nvPr/>
        </p:nvSpPr>
        <p:spPr>
          <a:xfrm>
            <a:off x="2324100" y="20574000"/>
            <a:ext cx="2133600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i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Localized a design system to Mandarin and Arabic on the same sprint. "</a:t>
            </a:r>
            <a:endParaRPr lang="en-US" sz="938" dirty="0"/>
          </a:p>
        </p:txBody>
      </p:sp>
      <p:sp>
        <p:nvSpPr>
          <p:cNvPr id="142" name="Shape 140"/>
          <p:cNvSpPr/>
          <p:nvPr/>
        </p:nvSpPr>
        <p:spPr>
          <a:xfrm>
            <a:off x="1085850" y="25716161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43" name="Text 141"/>
          <p:cNvSpPr/>
          <p:nvPr/>
        </p:nvSpPr>
        <p:spPr>
          <a:xfrm>
            <a:off x="1085850" y="20574000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§09</a:t>
            </a:r>
            <a:endParaRPr lang="en-US" sz="825" dirty="0"/>
          </a:p>
        </p:txBody>
      </p:sp>
      <p:sp>
        <p:nvSpPr>
          <p:cNvPr id="144" name="Text 142"/>
          <p:cNvSpPr/>
          <p:nvPr/>
        </p:nvSpPr>
        <p:spPr>
          <a:xfrm>
            <a:off x="1369740" y="20574000"/>
            <a:ext cx="6689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Footnotes</a:t>
            </a:r>
            <a:endParaRPr lang="en-US" sz="975" dirty="0"/>
          </a:p>
        </p:txBody>
      </p:sp>
      <p:sp>
        <p:nvSpPr>
          <p:cNvPr id="145" name="Text 143"/>
          <p:cNvSpPr/>
          <p:nvPr/>
        </p:nvSpPr>
        <p:spPr>
          <a:xfrm>
            <a:off x="1085850" y="20574000"/>
            <a:ext cx="3394519" cy="378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88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¹ </a:t>
            </a:r>
            <a:pPr algn="l" indent="0" marL="0">
              <a:lnSpc>
                <a:spcPct val="170000"/>
              </a:lnSpc>
              <a:buNone/>
            </a:pPr>
            <a:r>
              <a:rPr lang="en-US" sz="78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over 90 days, slack + email, weighted by sender priority.</a:t>
            </a:r>
            <a:endParaRPr lang="en-US" sz="788" dirty="0"/>
          </a:p>
        </p:txBody>
      </p:sp>
      <p:sp>
        <p:nvSpPr>
          <p:cNvPr id="146" name="Text 144"/>
          <p:cNvSpPr/>
          <p:nvPr/>
        </p:nvSpPr>
        <p:spPr>
          <a:xfrm>
            <a:off x="1085850" y="20574000"/>
            <a:ext cx="3394519" cy="378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788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² </a:t>
            </a:r>
            <a:pPr algn="l" indent="0" marL="0">
              <a:lnSpc>
                <a:spcPct val="170000"/>
              </a:lnSpc>
              <a:buNone/>
            </a:pPr>
            <a:r>
              <a:rPr lang="en-US" sz="788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degradation = produces a slide deck instead of a decision.</a:t>
            </a:r>
            <a:endParaRPr lang="en-US" sz="788" dirty="0"/>
          </a:p>
        </p:txBody>
      </p:sp>
      <p:sp>
        <p:nvSpPr>
          <p:cNvPr id="147" name="Shape 145"/>
          <p:cNvSpPr/>
          <p:nvPr/>
        </p:nvSpPr>
        <p:spPr>
          <a:xfrm>
            <a:off x="1085850" y="27000845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48" name="Text 146"/>
          <p:cNvSpPr/>
          <p:nvPr/>
        </p:nvSpPr>
        <p:spPr>
          <a:xfrm>
            <a:off x="1085850" y="20574000"/>
            <a:ext cx="2648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§10</a:t>
            </a:r>
            <a:endParaRPr lang="en-US" sz="825" dirty="0"/>
          </a:p>
        </p:txBody>
      </p:sp>
      <p:sp>
        <p:nvSpPr>
          <p:cNvPr id="149" name="Text 147"/>
          <p:cNvSpPr/>
          <p:nvPr/>
        </p:nvSpPr>
        <p:spPr>
          <a:xfrm>
            <a:off x="1369740" y="20574000"/>
            <a:ext cx="4908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975" dirty="0"/>
          </a:p>
        </p:txBody>
      </p:sp>
      <p:sp>
        <p:nvSpPr>
          <p:cNvPr id="150" name="Shape 148"/>
          <p:cNvSpPr/>
          <p:nvPr/>
        </p:nvSpPr>
        <p:spPr>
          <a:xfrm>
            <a:off x="1085850" y="20574000"/>
            <a:ext cx="3295650" cy="431006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51" name="Text 149"/>
          <p:cNvSpPr/>
          <p:nvPr/>
        </p:nvSpPr>
        <p:spPr>
          <a:xfrm>
            <a:off x="1238250" y="20574000"/>
            <a:ext cx="202845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52" kern="0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deploy --intro=30m --warm</a:t>
            </a:r>
            <a:endParaRPr lang="en-US" sz="863" dirty="0"/>
          </a:p>
        </p:txBody>
      </p:sp>
      <p:sp>
        <p:nvSpPr>
          <p:cNvPr id="152" name="Text 150"/>
          <p:cNvSpPr/>
          <p:nvPr/>
        </p:nvSpPr>
        <p:spPr>
          <a:xfrm>
            <a:off x="4156546" y="20574000"/>
            <a:ext cx="148754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52" kern="0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↵</a:t>
            </a:r>
            <a:endParaRPr lang="en-US" sz="863" dirty="0"/>
          </a:p>
        </p:txBody>
      </p:sp>
      <p:sp>
        <p:nvSpPr>
          <p:cNvPr id="153" name="Shape 151"/>
          <p:cNvSpPr/>
          <p:nvPr/>
        </p:nvSpPr>
        <p:spPr>
          <a:xfrm>
            <a:off x="1085850" y="20574000"/>
            <a:ext cx="3295650" cy="450056"/>
          </a:xfrm>
          <a:prstGeom prst="rect">
            <a:avLst/>
          </a:prstGeom>
          <a:ln w="9525">
            <a:solidFill>
              <a:srgbClr val="15171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247775" y="20574000"/>
            <a:ext cx="173928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52" kern="0" dirty="0">
                <a:solidFill>
                  <a:srgbClr val="151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/etc/availability</a:t>
            </a:r>
            <a:endParaRPr lang="en-US" sz="863" dirty="0"/>
          </a:p>
        </p:txBody>
      </p:sp>
      <p:sp>
        <p:nvSpPr>
          <p:cNvPr id="155" name="Text 153"/>
          <p:cNvSpPr/>
          <p:nvPr/>
        </p:nvSpPr>
        <p:spPr>
          <a:xfrm>
            <a:off x="4147245" y="20574000"/>
            <a:ext cx="14853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52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863" dirty="0"/>
          </a:p>
        </p:txBody>
      </p:sp>
      <p:sp>
        <p:nvSpPr>
          <p:cNvPr id="156" name="Shape 154"/>
          <p:cNvSpPr/>
          <p:nvPr/>
        </p:nvSpPr>
        <p:spPr>
          <a:xfrm>
            <a:off x="1085850" y="28301007"/>
            <a:ext cx="3295650" cy="19050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57" name="Text 155"/>
          <p:cNvSpPr/>
          <p:nvPr/>
        </p:nvSpPr>
        <p:spPr>
          <a:xfrm>
            <a:off x="1085850" y="20574000"/>
            <a:ext cx="1542380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 as: maheshwari_am_2026</a:t>
            </a:r>
            <a:endParaRPr lang="en-US" sz="713" dirty="0"/>
          </a:p>
        </p:txBody>
      </p:sp>
      <p:sp>
        <p:nvSpPr>
          <p:cNvPr id="158" name="Text 156"/>
          <p:cNvSpPr/>
          <p:nvPr/>
        </p:nvSpPr>
        <p:spPr>
          <a:xfrm>
            <a:off x="3349749" y="20574000"/>
            <a:ext cx="1107951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arpitmaheshwari.com</a:t>
            </a:r>
            <a:endParaRPr lang="en-US" sz="713" dirty="0"/>
          </a:p>
        </p:txBody>
      </p:sp>
      <p:sp>
        <p:nvSpPr>
          <p:cNvPr id="159" name="Shape 157"/>
          <p:cNvSpPr/>
          <p:nvPr/>
        </p:nvSpPr>
        <p:spPr>
          <a:xfrm>
            <a:off x="5581650" y="838200"/>
            <a:ext cx="1751335" cy="309563"/>
          </a:xfrm>
          <a:prstGeom prst="rect">
            <a:avLst/>
          </a:prstGeom>
          <a:solidFill>
            <a:srgbClr val="15171F"/>
          </a:solidFill>
          <a:ln/>
        </p:spPr>
      </p:sp>
      <p:sp>
        <p:nvSpPr>
          <p:cNvPr id="160" name="Text 158"/>
          <p:cNvSpPr/>
          <p:nvPr/>
        </p:nvSpPr>
        <p:spPr>
          <a:xfrm>
            <a:off x="5695950" y="895350"/>
            <a:ext cx="159893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01</a:t>
            </a:r>
            <a:endParaRPr lang="en-US" sz="1350" dirty="0"/>
          </a:p>
        </p:txBody>
      </p:sp>
      <p:sp>
        <p:nvSpPr>
          <p:cNvPr id="161" name="Text 159"/>
          <p:cNvSpPr/>
          <p:nvPr/>
        </p:nvSpPr>
        <p:spPr>
          <a:xfrm>
            <a:off x="7466335" y="895350"/>
            <a:ext cx="36595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GRAPHITE · URANIUM · MERCURY</a:t>
            </a:r>
            <a:endParaRPr lang="en-US" sz="1350" dirty="0"/>
          </a:p>
        </p:txBody>
      </p:sp>
      <p:sp>
        <p:nvSpPr>
          <p:cNvPr id="162" name="Text 160"/>
          <p:cNvSpPr/>
          <p:nvPr/>
        </p:nvSpPr>
        <p:spPr>
          <a:xfrm>
            <a:off x="5581650" y="1414463"/>
            <a:ext cx="12302681" cy="205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spc="-203" kern="0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Card.</a:t>
            </a:r>
            <a:endParaRPr lang="en-US" sz="8100" dirty="0"/>
          </a:p>
        </p:txBody>
      </p:sp>
      <p:sp>
        <p:nvSpPr>
          <p:cNvPr id="163" name="Text 161"/>
          <p:cNvSpPr/>
          <p:nvPr/>
        </p:nvSpPr>
        <p:spPr>
          <a:xfrm>
            <a:off x="5581650" y="3735437"/>
            <a:ext cx="902589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Arpit treated as a deployable model. Latency p50, context window, temperature, refusals. He uses the same document type his founders use to spec the things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2A2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ship.</a:t>
            </a:r>
            <a:endParaRPr lang="en-US" sz="1950" dirty="0"/>
          </a:p>
        </p:txBody>
      </p:sp>
      <p:sp>
        <p:nvSpPr>
          <p:cNvPr id="164" name="Text 162"/>
          <p:cNvSpPr/>
          <p:nvPr/>
        </p:nvSpPr>
        <p:spPr>
          <a:xfrm>
            <a:off x="5581650" y="5231681"/>
            <a:ext cx="1230268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</a:t>
            </a:r>
            <a:endParaRPr lang="en-US" sz="1350" dirty="0"/>
          </a:p>
        </p:txBody>
      </p:sp>
      <p:sp>
        <p:nvSpPr>
          <p:cNvPr id="165" name="Shape 163"/>
          <p:cNvSpPr/>
          <p:nvPr/>
        </p:nvSpPr>
        <p:spPr>
          <a:xfrm>
            <a:off x="55816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5171F"/>
          </a:solidFill>
          <a:ln/>
        </p:spPr>
      </p:sp>
      <p:sp>
        <p:nvSpPr>
          <p:cNvPr id="166" name="Shape 164"/>
          <p:cNvSpPr/>
          <p:nvPr/>
        </p:nvSpPr>
        <p:spPr>
          <a:xfrm>
            <a:off x="62865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D4C43A"/>
          </a:solidFill>
          <a:ln/>
        </p:spPr>
      </p:sp>
      <p:sp>
        <p:nvSpPr>
          <p:cNvPr id="167" name="Shape 165"/>
          <p:cNvSpPr/>
          <p:nvPr/>
        </p:nvSpPr>
        <p:spPr>
          <a:xfrm>
            <a:off x="69913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B8E8DB"/>
          </a:solidFill>
          <a:ln/>
        </p:spPr>
      </p:sp>
      <p:sp>
        <p:nvSpPr>
          <p:cNvPr id="168" name="Shape 166"/>
          <p:cNvSpPr/>
          <p:nvPr/>
        </p:nvSpPr>
        <p:spPr>
          <a:xfrm>
            <a:off x="76962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E8E8DF"/>
          </a:solidFill>
          <a:ln/>
        </p:spPr>
      </p:sp>
      <p:sp>
        <p:nvSpPr>
          <p:cNvPr id="169" name="Shape 167"/>
          <p:cNvSpPr/>
          <p:nvPr/>
        </p:nvSpPr>
        <p:spPr>
          <a:xfrm>
            <a:off x="5581650" y="8858771"/>
            <a:ext cx="11944350" cy="9525"/>
          </a:xfrm>
          <a:prstGeom prst="rect">
            <a:avLst/>
          </a:prstGeom>
          <a:solidFill>
            <a:srgbClr val="C0C0B3"/>
          </a:solidFill>
          <a:ln/>
        </p:spPr>
      </p:sp>
      <p:sp>
        <p:nvSpPr>
          <p:cNvPr id="170" name="Text 168"/>
          <p:cNvSpPr/>
          <p:nvPr/>
        </p:nvSpPr>
        <p:spPr>
          <a:xfrm>
            <a:off x="5581650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SOLVES FINDINGS</a:t>
            </a:r>
            <a:endParaRPr lang="en-US" sz="1050" dirty="0"/>
          </a:p>
        </p:txBody>
      </p:sp>
      <p:sp>
        <p:nvSpPr>
          <p:cNvPr id="171" name="Text 169"/>
          <p:cNvSpPr/>
          <p:nvPr/>
        </p:nvSpPr>
        <p:spPr>
          <a:xfrm>
            <a:off x="5581650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07 · 08</a:t>
            </a:r>
            <a:endParaRPr lang="en-US" sz="1425" dirty="0"/>
          </a:p>
        </p:txBody>
      </p:sp>
      <p:sp>
        <p:nvSpPr>
          <p:cNvPr id="172" name="Text 170"/>
          <p:cNvSpPr/>
          <p:nvPr/>
        </p:nvSpPr>
        <p:spPr>
          <a:xfrm>
            <a:off x="11706225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5A5D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AS</a:t>
            </a:r>
            <a:endParaRPr lang="en-US" sz="1050" dirty="0"/>
          </a:p>
        </p:txBody>
      </p:sp>
      <p:sp>
        <p:nvSpPr>
          <p:cNvPr id="173" name="Text 171"/>
          <p:cNvSpPr/>
          <p:nvPr/>
        </p:nvSpPr>
        <p:spPr>
          <a:xfrm>
            <a:off x="11706225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page · / route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4133850" cy="7848600"/>
          </a:xfrm>
          <a:prstGeom prst="roundRect">
            <a:avLst>
              <a:gd name="adj" fmla="val 10138"/>
            </a:avLst>
          </a:prstGeom>
          <a:solidFill>
            <a:srgbClr val="1A1A17"/>
          </a:solidFill>
          <a:ln/>
          <a:effectLst>
            <a:outerShdw sx="100000" sy="100000" kx="0" ky="0" algn="bl" rotWithShape="0" blurRad="857250" dist="476250" dir="5400000">
              <a:srgbClr val="000000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76300" y="723900"/>
            <a:ext cx="3714750" cy="20574000"/>
          </a:xfrm>
          <a:prstGeom prst="rect">
            <a:avLst/>
          </a:prstGeom>
          <a:solidFill>
            <a:srgbClr val="F4EAD4"/>
          </a:solidFill>
          <a:ln/>
        </p:spPr>
      </p:sp>
      <p:sp>
        <p:nvSpPr>
          <p:cNvPr id="4" name="Shape 2"/>
          <p:cNvSpPr/>
          <p:nvPr/>
        </p:nvSpPr>
        <p:spPr>
          <a:xfrm>
            <a:off x="876300" y="723900"/>
            <a:ext cx="3714750" cy="897731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862013"/>
            <a:ext cx="11737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NO.</a:t>
            </a:r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AM-407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771751" y="900113"/>
            <a:ext cx="57150" cy="57150"/>
          </a:xfrm>
          <a:prstGeom prst="ellipse">
            <a:avLst/>
          </a:prstGeom>
          <a:solidFill>
            <a:srgbClr val="22C5C9"/>
          </a:solidFill>
          <a:ln/>
        </p:spPr>
      </p:sp>
      <p:sp>
        <p:nvSpPr>
          <p:cNvPr id="7" name="Text 5"/>
          <p:cNvSpPr/>
          <p:nvPr/>
        </p:nvSpPr>
        <p:spPr>
          <a:xfrm>
            <a:off x="3886051" y="857250"/>
            <a:ext cx="5906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22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ATTENDING</a:t>
            </a: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1119188"/>
            <a:ext cx="3333750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6800" y="1366838"/>
            <a:ext cx="367754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dirty="0">
                <a:solidFill>
                  <a:srgbClr val="A0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nm</a:t>
            </a:r>
            <a:endParaRPr lang="en-US" sz="638" dirty="0"/>
          </a:p>
        </p:txBody>
      </p:sp>
      <p:sp>
        <p:nvSpPr>
          <p:cNvPr id="10" name="Text 7"/>
          <p:cNvSpPr/>
          <p:nvPr/>
        </p:nvSpPr>
        <p:spPr>
          <a:xfrm>
            <a:off x="2178025" y="1366838"/>
            <a:ext cx="221977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dirty="0">
                <a:solidFill>
                  <a:srgbClr val="A0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638" dirty="0"/>
          </a:p>
        </p:txBody>
      </p:sp>
      <p:sp>
        <p:nvSpPr>
          <p:cNvPr id="11" name="Text 8"/>
          <p:cNvSpPr/>
          <p:nvPr/>
        </p:nvSpPr>
        <p:spPr>
          <a:xfrm>
            <a:off x="3143548" y="1366838"/>
            <a:ext cx="221977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dirty="0">
                <a:solidFill>
                  <a:srgbClr val="A0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638" dirty="0"/>
          </a:p>
        </p:txBody>
      </p:sp>
      <p:sp>
        <p:nvSpPr>
          <p:cNvPr id="12" name="Text 9"/>
          <p:cNvSpPr/>
          <p:nvPr/>
        </p:nvSpPr>
        <p:spPr>
          <a:xfrm>
            <a:off x="4108996" y="1366838"/>
            <a:ext cx="367754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dirty="0">
                <a:solidFill>
                  <a:srgbClr val="A08A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 nm</a:t>
            </a:r>
            <a:endParaRPr lang="en-US" sz="638" dirty="0"/>
          </a:p>
        </p:txBody>
      </p:sp>
      <p:sp>
        <p:nvSpPr>
          <p:cNvPr id="13" name="Text 10"/>
          <p:cNvSpPr/>
          <p:nvPr/>
        </p:nvSpPr>
        <p:spPr>
          <a:xfrm>
            <a:off x="1066800" y="1850231"/>
            <a:ext cx="34337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7D3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ATTENDING DESIGNER · 15 YR PRACTICE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66800" y="2107406"/>
            <a:ext cx="343376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50" b="1" spc="-56" kern="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read the chart before I sketch the cure.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066800" y="2838896"/>
            <a:ext cx="3335655" cy="6138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7A5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clinic for intelligent products that have lost the trust of their users. 4 patient files below. All under doctor-patient privilege; outcomes verified by peer attestation.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1066800" y="3567038"/>
            <a:ext cx="3333750" cy="504825"/>
          </a:xfrm>
          <a:prstGeom prst="rect">
            <a:avLst/>
          </a:prstGeom>
          <a:solidFill>
            <a:srgbClr val="FF6A1C"/>
          </a:solidFill>
          <a:ln/>
        </p:spPr>
      </p:sp>
      <p:sp>
        <p:nvSpPr>
          <p:cNvPr id="17" name="Text 14"/>
          <p:cNvSpPr/>
          <p:nvPr/>
        </p:nvSpPr>
        <p:spPr>
          <a:xfrm>
            <a:off x="1219200" y="3726582"/>
            <a:ext cx="193111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-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first consult — 30 min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131618" y="3690863"/>
            <a:ext cx="1927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spc="-5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℞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66800" y="4319513"/>
            <a:ext cx="34337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PRACTITIONER · ABSORPTION SPECTRUM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066800" y="4557638"/>
            <a:ext cx="3333750" cy="673894"/>
          </a:xfrm>
          <a:prstGeom prst="rect">
            <a:avLst/>
          </a:prstGeom>
          <a:solidFill>
            <a:srgbClr val="FBF4E0"/>
          </a:solidFill>
          <a:ln w="9525">
            <a:solidFill>
              <a:srgbClr val="D8C8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5375" y="4681463"/>
            <a:ext cx="7905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b="1" spc="-30" kern="0" dirty="0">
                <a:solidFill>
                  <a:srgbClr val="2413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5375" y="4986263"/>
            <a:ext cx="790575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638" spc="5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YRS</a:t>
            </a:r>
            <a:endParaRPr lang="en-US" sz="638" dirty="0"/>
          </a:p>
        </p:txBody>
      </p:sp>
      <p:sp>
        <p:nvSpPr>
          <p:cNvPr id="23" name="Shape 20"/>
          <p:cNvSpPr/>
          <p:nvPr/>
        </p:nvSpPr>
        <p:spPr>
          <a:xfrm>
            <a:off x="1905000" y="4567163"/>
            <a:ext cx="9525" cy="654844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24" name="Text 21"/>
          <p:cNvSpPr/>
          <p:nvPr/>
        </p:nvSpPr>
        <p:spPr>
          <a:xfrm>
            <a:off x="1933575" y="4681463"/>
            <a:ext cx="781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b="1" spc="-30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1M+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933575" y="4986263"/>
            <a:ext cx="7810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638" spc="5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638" dirty="0"/>
          </a:p>
        </p:txBody>
      </p:sp>
      <p:sp>
        <p:nvSpPr>
          <p:cNvPr id="26" name="Shape 23"/>
          <p:cNvSpPr/>
          <p:nvPr/>
        </p:nvSpPr>
        <p:spPr>
          <a:xfrm>
            <a:off x="2733675" y="4567163"/>
            <a:ext cx="9525" cy="654844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27" name="Text 24"/>
          <p:cNvSpPr/>
          <p:nvPr/>
        </p:nvSpPr>
        <p:spPr>
          <a:xfrm>
            <a:off x="2762250" y="4681463"/>
            <a:ext cx="781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b="1" spc="-30" kern="0" dirty="0">
                <a:solidFill>
                  <a:srgbClr val="22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94%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2762250" y="4986263"/>
            <a:ext cx="7810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638" spc="5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</a:t>
            </a:r>
            <a:endParaRPr lang="en-US" sz="638" dirty="0"/>
          </a:p>
        </p:txBody>
      </p:sp>
      <p:sp>
        <p:nvSpPr>
          <p:cNvPr id="29" name="Shape 26"/>
          <p:cNvSpPr/>
          <p:nvPr/>
        </p:nvSpPr>
        <p:spPr>
          <a:xfrm>
            <a:off x="3562350" y="4567163"/>
            <a:ext cx="9525" cy="654844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30" name="Text 27"/>
          <p:cNvSpPr/>
          <p:nvPr/>
        </p:nvSpPr>
        <p:spPr>
          <a:xfrm>
            <a:off x="3590925" y="4681463"/>
            <a:ext cx="7810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b="1" spc="-30" kern="0" dirty="0">
                <a:solidFill>
                  <a:srgbClr val="7D3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3590925" y="4986263"/>
            <a:ext cx="781050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638" spc="5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MALPRACTICE</a:t>
            </a:r>
            <a:endParaRPr lang="en-US" sz="638" dirty="0"/>
          </a:p>
        </p:txBody>
      </p:sp>
      <p:sp>
        <p:nvSpPr>
          <p:cNvPr id="32" name="Shape 29"/>
          <p:cNvSpPr/>
          <p:nvPr/>
        </p:nvSpPr>
        <p:spPr>
          <a:xfrm>
            <a:off x="1066800" y="5688732"/>
            <a:ext cx="3333750" cy="19050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33" name="Text 30"/>
          <p:cNvSpPr/>
          <p:nvPr/>
        </p:nvSpPr>
        <p:spPr>
          <a:xfrm>
            <a:off x="1066800" y="5422032"/>
            <a:ext cx="11744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files · 4 recent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803228" y="5455369"/>
            <a:ext cx="673522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severity</a:t>
            </a:r>
            <a:endParaRPr lang="en-US" sz="713" dirty="0"/>
          </a:p>
        </p:txBody>
      </p:sp>
      <p:sp>
        <p:nvSpPr>
          <p:cNvPr id="35" name="Shape 32"/>
          <p:cNvSpPr/>
          <p:nvPr/>
        </p:nvSpPr>
        <p:spPr>
          <a:xfrm>
            <a:off x="1066800" y="5841132"/>
            <a:ext cx="3333750" cy="4186982"/>
          </a:xfrm>
          <a:prstGeom prst="rect">
            <a:avLst/>
          </a:prstGeom>
          <a:solidFill>
            <a:srgbClr val="FBF4E0"/>
          </a:solidFill>
          <a:ln w="9525">
            <a:solidFill>
              <a:srgbClr val="D8C8B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76325" y="5850657"/>
            <a:ext cx="3314700" cy="350044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37" name="Shape 34"/>
          <p:cNvSpPr/>
          <p:nvPr/>
        </p:nvSpPr>
        <p:spPr>
          <a:xfrm>
            <a:off x="1076325" y="6191176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38" name="Text 35"/>
          <p:cNvSpPr/>
          <p:nvPr/>
        </p:nvSpPr>
        <p:spPr>
          <a:xfrm>
            <a:off x="1190625" y="5945907"/>
            <a:ext cx="73640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AM-2024-PE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3868341" y="5956622"/>
            <a:ext cx="48458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54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◆ACUTE</a:t>
            </a:r>
            <a:endParaRPr lang="en-US" sz="675" dirty="0"/>
          </a:p>
        </p:txBody>
      </p:sp>
      <p:sp>
        <p:nvSpPr>
          <p:cNvPr id="40" name="Shape 37"/>
          <p:cNvSpPr/>
          <p:nvPr/>
        </p:nvSpPr>
        <p:spPr>
          <a:xfrm>
            <a:off x="1076325" y="6882631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41" name="Text 38"/>
          <p:cNvSpPr/>
          <p:nvPr/>
        </p:nvSpPr>
        <p:spPr>
          <a:xfrm>
            <a:off x="1190625" y="6305476"/>
            <a:ext cx="317868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CARDIOLOGY · FINTECH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1190625" y="6472163"/>
            <a:ext cx="317868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the team owned but no analyst would defer to.</a:t>
            </a:r>
            <a:endParaRPr lang="en-US" sz="1013" dirty="0"/>
          </a:p>
        </p:txBody>
      </p:sp>
      <p:sp>
        <p:nvSpPr>
          <p:cNvPr id="43" name="Shape 40"/>
          <p:cNvSpPr/>
          <p:nvPr/>
        </p:nvSpPr>
        <p:spPr>
          <a:xfrm>
            <a:off x="1076325" y="7701260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44" name="Text 41"/>
          <p:cNvSpPr/>
          <p:nvPr/>
        </p:nvSpPr>
        <p:spPr>
          <a:xfrm>
            <a:off x="1152525" y="6977881"/>
            <a:ext cx="304800" cy="675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6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ƒ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1514475" y="6977881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638" dirty="0"/>
          </a:p>
        </p:txBody>
      </p:sp>
      <p:sp>
        <p:nvSpPr>
          <p:cNvPr id="46" name="Text 43"/>
          <p:cNvSpPr/>
          <p:nvPr/>
        </p:nvSpPr>
        <p:spPr>
          <a:xfrm>
            <a:off x="1514475" y="7118375"/>
            <a:ext cx="2845118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teams re-screened every recommendation by hand. The CEO had paid for the AI; the analysts had not.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076325" y="8685609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48" name="Text 45"/>
          <p:cNvSpPr/>
          <p:nvPr/>
        </p:nvSpPr>
        <p:spPr>
          <a:xfrm>
            <a:off x="1152525" y="7796510"/>
            <a:ext cx="304800" cy="841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7D3F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1514475" y="7796510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638" dirty="0"/>
          </a:p>
        </p:txBody>
      </p:sp>
      <p:sp>
        <p:nvSpPr>
          <p:cNvPr id="50" name="Text 47"/>
          <p:cNvSpPr/>
          <p:nvPr/>
        </p:nvSpPr>
        <p:spPr>
          <a:xfrm>
            <a:off x="1514475" y="7937004"/>
            <a:ext cx="2845118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stranger-anxiety. The model's outputs arrived without source, weight, or method — so the team treated it as a colleague who had skipped the meeting.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076325" y="9504238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52" name="Text 49"/>
          <p:cNvSpPr/>
          <p:nvPr/>
        </p:nvSpPr>
        <p:spPr>
          <a:xfrm>
            <a:off x="1152525" y="8780859"/>
            <a:ext cx="304800" cy="675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C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℞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1514475" y="8780859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638" dirty="0"/>
          </a:p>
        </p:txBody>
      </p:sp>
      <p:sp>
        <p:nvSpPr>
          <p:cNvPr id="54" name="Text 51"/>
          <p:cNvSpPr/>
          <p:nvPr/>
        </p:nvSpPr>
        <p:spPr>
          <a:xfrm>
            <a:off x="1514475" y="8921353"/>
            <a:ext cx="2845118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reasoning trail into the surface: every ranking opened to its data sources, its weights, and one sentence on what would have flipped it.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076325" y="9513763"/>
            <a:ext cx="3314700" cy="504825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56" name="Text 53"/>
          <p:cNvSpPr/>
          <p:nvPr/>
        </p:nvSpPr>
        <p:spPr>
          <a:xfrm>
            <a:off x="1190625" y="9756651"/>
            <a:ext cx="239650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DISCHARGE ·screening cycle, 100+ deals</a:t>
            </a:r>
            <a:endParaRPr lang="en-US" sz="675" dirty="0"/>
          </a:p>
        </p:txBody>
      </p:sp>
      <p:sp>
        <p:nvSpPr>
          <p:cNvPr id="57" name="Text 54"/>
          <p:cNvSpPr/>
          <p:nvPr/>
        </p:nvSpPr>
        <p:spPr>
          <a:xfrm>
            <a:off x="3790504" y="9609013"/>
            <a:ext cx="5624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-33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−60%</a:t>
            </a:r>
            <a:endParaRPr lang="en-US" sz="1650" dirty="0"/>
          </a:p>
        </p:txBody>
      </p:sp>
      <p:sp>
        <p:nvSpPr>
          <p:cNvPr id="58" name="Shape 55"/>
          <p:cNvSpPr/>
          <p:nvPr/>
        </p:nvSpPr>
        <p:spPr>
          <a:xfrm>
            <a:off x="1066800" y="10142413"/>
            <a:ext cx="3333750" cy="3855541"/>
          </a:xfrm>
          <a:prstGeom prst="rect">
            <a:avLst/>
          </a:prstGeom>
          <a:solidFill>
            <a:srgbClr val="FBF4E0"/>
          </a:solidFill>
          <a:ln w="9525">
            <a:solidFill>
              <a:srgbClr val="D8C8B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076325" y="10151938"/>
            <a:ext cx="3314700" cy="350044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60" name="Shape 57"/>
          <p:cNvSpPr/>
          <p:nvPr/>
        </p:nvSpPr>
        <p:spPr>
          <a:xfrm>
            <a:off x="1076325" y="10492457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61" name="Text 58"/>
          <p:cNvSpPr/>
          <p:nvPr/>
        </p:nvSpPr>
        <p:spPr>
          <a:xfrm>
            <a:off x="1190625" y="10247188"/>
            <a:ext cx="73640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AM-2022-AD</a:t>
            </a:r>
            <a:endParaRPr lang="en-US" sz="788" dirty="0"/>
          </a:p>
        </p:txBody>
      </p:sp>
      <p:sp>
        <p:nvSpPr>
          <p:cNvPr id="62" name="Text 59"/>
          <p:cNvSpPr/>
          <p:nvPr/>
        </p:nvSpPr>
        <p:spPr>
          <a:xfrm>
            <a:off x="3751734" y="10257904"/>
            <a:ext cx="60119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54" kern="0" dirty="0">
                <a:solidFill>
                  <a:srgbClr val="7D3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◆CHRONIC</a:t>
            </a:r>
            <a:endParaRPr lang="en-US" sz="675" dirty="0"/>
          </a:p>
        </p:txBody>
      </p:sp>
      <p:sp>
        <p:nvSpPr>
          <p:cNvPr id="63" name="Shape 60"/>
          <p:cNvSpPr/>
          <p:nvPr/>
        </p:nvSpPr>
        <p:spPr>
          <a:xfrm>
            <a:off x="1076325" y="11183913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64" name="Text 61"/>
          <p:cNvSpPr/>
          <p:nvPr/>
        </p:nvSpPr>
        <p:spPr>
          <a:xfrm>
            <a:off x="1190625" y="10606757"/>
            <a:ext cx="317868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NEUROLOGY · ADTECH</a:t>
            </a:r>
            <a:endParaRPr lang="en-US" sz="675" dirty="0"/>
          </a:p>
        </p:txBody>
      </p:sp>
      <p:sp>
        <p:nvSpPr>
          <p:cNvPr id="65" name="Text 62"/>
          <p:cNvSpPr/>
          <p:nvPr/>
        </p:nvSpPr>
        <p:spPr>
          <a:xfrm>
            <a:off x="1190625" y="10773445"/>
            <a:ext cx="317868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planner that demanded technical literacy the buyers had stopped pretending to have.</a:t>
            </a:r>
            <a:endParaRPr lang="en-US" sz="1013" dirty="0"/>
          </a:p>
        </p:txBody>
      </p:sp>
      <p:sp>
        <p:nvSpPr>
          <p:cNvPr id="66" name="Shape 63"/>
          <p:cNvSpPr/>
          <p:nvPr/>
        </p:nvSpPr>
        <p:spPr>
          <a:xfrm>
            <a:off x="1076325" y="11836822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67" name="Text 64"/>
          <p:cNvSpPr/>
          <p:nvPr/>
        </p:nvSpPr>
        <p:spPr>
          <a:xfrm>
            <a:off x="1152525" y="11279163"/>
            <a:ext cx="304800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6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ƒ</a:t>
            </a:r>
            <a:endParaRPr lang="en-US" sz="1350" dirty="0"/>
          </a:p>
        </p:txBody>
      </p:sp>
      <p:sp>
        <p:nvSpPr>
          <p:cNvPr id="68" name="Text 65"/>
          <p:cNvSpPr/>
          <p:nvPr/>
        </p:nvSpPr>
        <p:spPr>
          <a:xfrm>
            <a:off x="1514475" y="11279163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638" dirty="0"/>
          </a:p>
        </p:txBody>
      </p:sp>
      <p:sp>
        <p:nvSpPr>
          <p:cNvPr id="69" name="Text 66"/>
          <p:cNvSpPr/>
          <p:nvPr/>
        </p:nvSpPr>
        <p:spPr>
          <a:xfrm>
            <a:off x="1514475" y="11419656"/>
            <a:ext cx="284511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buyers built campaigns in Excel and pasted them in. Adoption was 8% three quarters after launch.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1076325" y="12655451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71" name="Text 68"/>
          <p:cNvSpPr/>
          <p:nvPr/>
        </p:nvSpPr>
        <p:spPr>
          <a:xfrm>
            <a:off x="1152525" y="11932072"/>
            <a:ext cx="304800" cy="675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7D3F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1350" dirty="0"/>
          </a:p>
        </p:txBody>
      </p:sp>
      <p:sp>
        <p:nvSpPr>
          <p:cNvPr id="72" name="Text 69"/>
          <p:cNvSpPr/>
          <p:nvPr/>
        </p:nvSpPr>
        <p:spPr>
          <a:xfrm>
            <a:off x="1514475" y="11932072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638" dirty="0"/>
          </a:p>
        </p:txBody>
      </p:sp>
      <p:sp>
        <p:nvSpPr>
          <p:cNvPr id="73" name="Text 70"/>
          <p:cNvSpPr/>
          <p:nvPr/>
        </p:nvSpPr>
        <p:spPr>
          <a:xfrm>
            <a:off x="1514475" y="12072565"/>
            <a:ext cx="2845118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treated ML confidence as a number to be respected; the buyers treated it as a riddle to be ignored.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1076325" y="13474080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75" name="Text 72"/>
          <p:cNvSpPr/>
          <p:nvPr/>
        </p:nvSpPr>
        <p:spPr>
          <a:xfrm>
            <a:off x="1152525" y="12750701"/>
            <a:ext cx="304800" cy="675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C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℞</a:t>
            </a:r>
            <a:endParaRPr lang="en-US" sz="1350" dirty="0"/>
          </a:p>
        </p:txBody>
      </p:sp>
      <p:sp>
        <p:nvSpPr>
          <p:cNvPr id="76" name="Text 73"/>
          <p:cNvSpPr/>
          <p:nvPr/>
        </p:nvSpPr>
        <p:spPr>
          <a:xfrm>
            <a:off x="1514475" y="12750701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638" dirty="0"/>
          </a:p>
        </p:txBody>
      </p:sp>
      <p:sp>
        <p:nvSpPr>
          <p:cNvPr id="77" name="Text 74"/>
          <p:cNvSpPr/>
          <p:nvPr/>
        </p:nvSpPr>
        <p:spPr>
          <a:xfrm>
            <a:off x="1514475" y="12891195"/>
            <a:ext cx="2845118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scores into actions: a confidence band drove a recommended inventory tier; the algorithm became a co-planner, not an oracle.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1076325" y="13483605"/>
            <a:ext cx="3314700" cy="504825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79" name="Text 76"/>
          <p:cNvSpPr/>
          <p:nvPr/>
        </p:nvSpPr>
        <p:spPr>
          <a:xfrm>
            <a:off x="1190625" y="13726492"/>
            <a:ext cx="245313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DISCHARGE ·workflow throughput, US + UK</a:t>
            </a:r>
            <a:endParaRPr lang="en-US" sz="675" dirty="0"/>
          </a:p>
        </p:txBody>
      </p:sp>
      <p:sp>
        <p:nvSpPr>
          <p:cNvPr id="80" name="Text 77"/>
          <p:cNvSpPr/>
          <p:nvPr/>
        </p:nvSpPr>
        <p:spPr>
          <a:xfrm>
            <a:off x="4033614" y="13578855"/>
            <a:ext cx="3193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-33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3×</a:t>
            </a:r>
            <a:endParaRPr lang="en-US" sz="1650" dirty="0"/>
          </a:p>
        </p:txBody>
      </p:sp>
      <p:sp>
        <p:nvSpPr>
          <p:cNvPr id="81" name="Shape 78"/>
          <p:cNvSpPr/>
          <p:nvPr/>
        </p:nvSpPr>
        <p:spPr>
          <a:xfrm>
            <a:off x="1066800" y="14112255"/>
            <a:ext cx="3333750" cy="3689821"/>
          </a:xfrm>
          <a:prstGeom prst="rect">
            <a:avLst/>
          </a:prstGeom>
          <a:solidFill>
            <a:srgbClr val="FBF4E0"/>
          </a:solidFill>
          <a:ln w="9525">
            <a:solidFill>
              <a:srgbClr val="D8C8B4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76325" y="14121780"/>
            <a:ext cx="3314700" cy="350044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83" name="Shape 80"/>
          <p:cNvSpPr/>
          <p:nvPr/>
        </p:nvSpPr>
        <p:spPr>
          <a:xfrm>
            <a:off x="1076325" y="14462299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84" name="Text 81"/>
          <p:cNvSpPr/>
          <p:nvPr/>
        </p:nvSpPr>
        <p:spPr>
          <a:xfrm>
            <a:off x="1190625" y="14217030"/>
            <a:ext cx="73640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AM-2018-O2</a:t>
            </a:r>
            <a:endParaRPr lang="en-US" sz="788" dirty="0"/>
          </a:p>
        </p:txBody>
      </p:sp>
      <p:sp>
        <p:nvSpPr>
          <p:cNvPr id="85" name="Text 82"/>
          <p:cNvSpPr/>
          <p:nvPr/>
        </p:nvSpPr>
        <p:spPr>
          <a:xfrm>
            <a:off x="3751734" y="14227746"/>
            <a:ext cx="601191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54" kern="0" dirty="0">
                <a:solidFill>
                  <a:srgbClr val="7D3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◆CHRONIC</a:t>
            </a:r>
            <a:endParaRPr lang="en-US" sz="675" dirty="0"/>
          </a:p>
        </p:txBody>
      </p:sp>
      <p:sp>
        <p:nvSpPr>
          <p:cNvPr id="86" name="Shape 83"/>
          <p:cNvSpPr/>
          <p:nvPr/>
        </p:nvSpPr>
        <p:spPr>
          <a:xfrm>
            <a:off x="1076325" y="15153754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87" name="Text 84"/>
          <p:cNvSpPr/>
          <p:nvPr/>
        </p:nvSpPr>
        <p:spPr>
          <a:xfrm>
            <a:off x="1190625" y="14576599"/>
            <a:ext cx="317868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 · TELECOM</a:t>
            </a:r>
            <a:endParaRPr lang="en-US" sz="675" dirty="0"/>
          </a:p>
        </p:txBody>
      </p:sp>
      <p:sp>
        <p:nvSpPr>
          <p:cNvPr id="88" name="Text 85"/>
          <p:cNvSpPr/>
          <p:nvPr/>
        </p:nvSpPr>
        <p:spPr>
          <a:xfrm>
            <a:off x="1190625" y="14743286"/>
            <a:ext cx="317868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million users phoning support to ask questions the app could answer.</a:t>
            </a:r>
            <a:endParaRPr lang="en-US" sz="1013" dirty="0"/>
          </a:p>
        </p:txBody>
      </p:sp>
      <p:sp>
        <p:nvSpPr>
          <p:cNvPr id="89" name="Shape 86"/>
          <p:cNvSpPr/>
          <p:nvPr/>
        </p:nvSpPr>
        <p:spPr>
          <a:xfrm>
            <a:off x="1076325" y="15806663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90" name="Text 87"/>
          <p:cNvSpPr/>
          <p:nvPr/>
        </p:nvSpPr>
        <p:spPr>
          <a:xfrm>
            <a:off x="1152525" y="15249004"/>
            <a:ext cx="304800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6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ƒ</a:t>
            </a:r>
            <a:endParaRPr lang="en-US" sz="1350" dirty="0"/>
          </a:p>
        </p:txBody>
      </p:sp>
      <p:sp>
        <p:nvSpPr>
          <p:cNvPr id="91" name="Text 88"/>
          <p:cNvSpPr/>
          <p:nvPr/>
        </p:nvSpPr>
        <p:spPr>
          <a:xfrm>
            <a:off x="1514475" y="15249004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638" dirty="0"/>
          </a:p>
        </p:txBody>
      </p:sp>
      <p:sp>
        <p:nvSpPr>
          <p:cNvPr id="92" name="Text 89"/>
          <p:cNvSpPr/>
          <p:nvPr/>
        </p:nvSpPr>
        <p:spPr>
          <a:xfrm>
            <a:off x="1514475" y="15389498"/>
            <a:ext cx="284511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inbound calls were already documented in-app, three taps away. NPS bleeding.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1076325" y="16459572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94" name="Text 91"/>
          <p:cNvSpPr/>
          <p:nvPr/>
        </p:nvSpPr>
        <p:spPr>
          <a:xfrm>
            <a:off x="1152525" y="15901913"/>
            <a:ext cx="304800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7D3F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1350" dirty="0"/>
          </a:p>
        </p:txBody>
      </p:sp>
      <p:sp>
        <p:nvSpPr>
          <p:cNvPr id="95" name="Text 92"/>
          <p:cNvSpPr/>
          <p:nvPr/>
        </p:nvSpPr>
        <p:spPr>
          <a:xfrm>
            <a:off x="1514475" y="15901913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638" dirty="0"/>
          </a:p>
        </p:txBody>
      </p:sp>
      <p:sp>
        <p:nvSpPr>
          <p:cNvPr id="96" name="Text 93"/>
          <p:cNvSpPr/>
          <p:nvPr/>
        </p:nvSpPr>
        <p:spPr>
          <a:xfrm>
            <a:off x="1514475" y="16042407"/>
            <a:ext cx="284511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architecture had been optimized for the org chart, not for the question.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1076325" y="17278201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98" name="Text 95"/>
          <p:cNvSpPr/>
          <p:nvPr/>
        </p:nvSpPr>
        <p:spPr>
          <a:xfrm>
            <a:off x="1152525" y="16554822"/>
            <a:ext cx="304800" cy="675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C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℞</a:t>
            </a:r>
            <a:endParaRPr lang="en-US" sz="1350" dirty="0"/>
          </a:p>
        </p:txBody>
      </p:sp>
      <p:sp>
        <p:nvSpPr>
          <p:cNvPr id="99" name="Text 96"/>
          <p:cNvSpPr/>
          <p:nvPr/>
        </p:nvSpPr>
        <p:spPr>
          <a:xfrm>
            <a:off x="1514475" y="16554822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638" dirty="0"/>
          </a:p>
        </p:txBody>
      </p:sp>
      <p:sp>
        <p:nvSpPr>
          <p:cNvPr id="100" name="Text 97"/>
          <p:cNvSpPr/>
          <p:nvPr/>
        </p:nvSpPr>
        <p:spPr>
          <a:xfrm>
            <a:off x="1514475" y="16695316"/>
            <a:ext cx="2845118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Rebuilt billing, plan management, and rewards around the question the user came to ask — surfaced the answer before the call-to-call.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076325" y="17287726"/>
            <a:ext cx="3314700" cy="504825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102" name="Text 99"/>
          <p:cNvSpPr/>
          <p:nvPr/>
        </p:nvSpPr>
        <p:spPr>
          <a:xfrm>
            <a:off x="1190625" y="17530614"/>
            <a:ext cx="262307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DISCHARGE ·support volume, 1M+ subscribers</a:t>
            </a:r>
            <a:endParaRPr lang="en-US" sz="675" dirty="0"/>
          </a:p>
        </p:txBody>
      </p:sp>
      <p:sp>
        <p:nvSpPr>
          <p:cNvPr id="103" name="Text 100"/>
          <p:cNvSpPr/>
          <p:nvPr/>
        </p:nvSpPr>
        <p:spPr>
          <a:xfrm>
            <a:off x="3790504" y="17382976"/>
            <a:ext cx="5624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-33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−40%</a:t>
            </a:r>
            <a:endParaRPr lang="en-US" sz="1650" dirty="0"/>
          </a:p>
        </p:txBody>
      </p:sp>
      <p:sp>
        <p:nvSpPr>
          <p:cNvPr id="104" name="Shape 101"/>
          <p:cNvSpPr/>
          <p:nvPr/>
        </p:nvSpPr>
        <p:spPr>
          <a:xfrm>
            <a:off x="1066800" y="17916376"/>
            <a:ext cx="3333750" cy="3689821"/>
          </a:xfrm>
          <a:prstGeom prst="rect">
            <a:avLst/>
          </a:prstGeom>
          <a:solidFill>
            <a:srgbClr val="FBF4E0"/>
          </a:solidFill>
          <a:ln w="9525">
            <a:solidFill>
              <a:srgbClr val="D8C8B4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76325" y="17925901"/>
            <a:ext cx="3314700" cy="350044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076325" y="18266420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107" name="Text 104"/>
          <p:cNvSpPr/>
          <p:nvPr/>
        </p:nvSpPr>
        <p:spPr>
          <a:xfrm>
            <a:off x="1190625" y="18021151"/>
            <a:ext cx="8024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AM-2016-PTC</a:t>
            </a:r>
            <a:endParaRPr lang="en-US" sz="788" dirty="0"/>
          </a:p>
        </p:txBody>
      </p:sp>
      <p:sp>
        <p:nvSpPr>
          <p:cNvPr id="108" name="Text 105"/>
          <p:cNvSpPr/>
          <p:nvPr/>
        </p:nvSpPr>
        <p:spPr>
          <a:xfrm>
            <a:off x="3693468" y="18031867"/>
            <a:ext cx="65945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54" kern="0" dirty="0">
                <a:solidFill>
                  <a:srgbClr val="22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◆REFERRED</a:t>
            </a:r>
            <a:endParaRPr lang="en-US" sz="675" dirty="0"/>
          </a:p>
        </p:txBody>
      </p:sp>
      <p:sp>
        <p:nvSpPr>
          <p:cNvPr id="109" name="Shape 106"/>
          <p:cNvSpPr/>
          <p:nvPr/>
        </p:nvSpPr>
        <p:spPr>
          <a:xfrm>
            <a:off x="1076325" y="18957875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110" name="Text 107"/>
          <p:cNvSpPr/>
          <p:nvPr/>
        </p:nvSpPr>
        <p:spPr>
          <a:xfrm>
            <a:off x="1190625" y="18380720"/>
            <a:ext cx="317868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PEDIATRICS · EDTECH</a:t>
            </a:r>
            <a:endParaRPr lang="en-US" sz="675" dirty="0"/>
          </a:p>
        </p:txBody>
      </p:sp>
      <p:sp>
        <p:nvSpPr>
          <p:cNvPr id="111" name="Text 108"/>
          <p:cNvSpPr/>
          <p:nvPr/>
        </p:nvSpPr>
        <p:spPr>
          <a:xfrm>
            <a:off x="1190625" y="18547407"/>
            <a:ext cx="3178683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13" b="1" spc="-5" kern="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platform that was inaccessible in 11 languages and intelligible in 0.</a:t>
            </a:r>
            <a:endParaRPr lang="en-US" sz="1013" dirty="0"/>
          </a:p>
        </p:txBody>
      </p:sp>
      <p:sp>
        <p:nvSpPr>
          <p:cNvPr id="112" name="Shape 109"/>
          <p:cNvSpPr/>
          <p:nvPr/>
        </p:nvSpPr>
        <p:spPr>
          <a:xfrm>
            <a:off x="1076325" y="19776504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113" name="Text 110"/>
          <p:cNvSpPr/>
          <p:nvPr/>
        </p:nvSpPr>
        <p:spPr>
          <a:xfrm>
            <a:off x="1152525" y="19053125"/>
            <a:ext cx="304800" cy="675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6A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ƒ</a:t>
            </a:r>
            <a:endParaRPr lang="en-US" sz="1350" dirty="0"/>
          </a:p>
        </p:txBody>
      </p:sp>
      <p:sp>
        <p:nvSpPr>
          <p:cNvPr id="114" name="Text 111"/>
          <p:cNvSpPr/>
          <p:nvPr/>
        </p:nvSpPr>
        <p:spPr>
          <a:xfrm>
            <a:off x="1514475" y="19053125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638" dirty="0"/>
          </a:p>
        </p:txBody>
      </p:sp>
      <p:sp>
        <p:nvSpPr>
          <p:cNvPr id="115" name="Text 112"/>
          <p:cNvSpPr/>
          <p:nvPr/>
        </p:nvSpPr>
        <p:spPr>
          <a:xfrm>
            <a:off x="1514475" y="19193619"/>
            <a:ext cx="2845118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readers couldn't parse it. Right-to-left was broken. The team didn't read any of the locale languages.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1076325" y="20429413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117" name="Text 114"/>
          <p:cNvSpPr/>
          <p:nvPr/>
        </p:nvSpPr>
        <p:spPr>
          <a:xfrm>
            <a:off x="1152525" y="19871754"/>
            <a:ext cx="304800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7D3F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1350" dirty="0"/>
          </a:p>
        </p:txBody>
      </p:sp>
      <p:sp>
        <p:nvSpPr>
          <p:cNvPr id="118" name="Text 115"/>
          <p:cNvSpPr/>
          <p:nvPr/>
        </p:nvSpPr>
        <p:spPr>
          <a:xfrm>
            <a:off x="1514475" y="19871754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638" dirty="0"/>
          </a:p>
        </p:txBody>
      </p:sp>
      <p:sp>
        <p:nvSpPr>
          <p:cNvPr id="119" name="Text 116"/>
          <p:cNvSpPr/>
          <p:nvPr/>
        </p:nvSpPr>
        <p:spPr>
          <a:xfrm>
            <a:off x="1514475" y="20012248"/>
            <a:ext cx="284511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had been treated as a final-sprint retrofit. So had localization. Both compounded.</a:t>
            </a:r>
            <a:endParaRPr lang="en-US" sz="900" dirty="0"/>
          </a:p>
        </p:txBody>
      </p:sp>
      <p:sp>
        <p:nvSpPr>
          <p:cNvPr id="120" name="Shape 117"/>
          <p:cNvSpPr/>
          <p:nvPr/>
        </p:nvSpPr>
        <p:spPr>
          <a:xfrm>
            <a:off x="1076325" y="21082322"/>
            <a:ext cx="331470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121" name="Text 118"/>
          <p:cNvSpPr/>
          <p:nvPr/>
        </p:nvSpPr>
        <p:spPr>
          <a:xfrm>
            <a:off x="1152525" y="20524663"/>
            <a:ext cx="304800" cy="510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2C5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℞</a:t>
            </a:r>
            <a:endParaRPr lang="en-US" sz="1350" dirty="0"/>
          </a:p>
        </p:txBody>
      </p:sp>
      <p:sp>
        <p:nvSpPr>
          <p:cNvPr id="122" name="Text 119"/>
          <p:cNvSpPr/>
          <p:nvPr/>
        </p:nvSpPr>
        <p:spPr>
          <a:xfrm>
            <a:off x="1514475" y="20524663"/>
            <a:ext cx="2845118" cy="1595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38" spc="38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638" dirty="0"/>
          </a:p>
        </p:txBody>
      </p:sp>
      <p:sp>
        <p:nvSpPr>
          <p:cNvPr id="123" name="Text 120"/>
          <p:cNvSpPr/>
          <p:nvPr/>
        </p:nvSpPr>
        <p:spPr>
          <a:xfrm>
            <a:off x="1514475" y="20574000"/>
            <a:ext cx="2845118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 team-wide WCAG-AA guidelines. Rebuilt content patterns to localize without rework.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1076325" y="20574000"/>
            <a:ext cx="3314700" cy="504825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125" name="Text 122"/>
          <p:cNvSpPr/>
          <p:nvPr/>
        </p:nvSpPr>
        <p:spPr>
          <a:xfrm>
            <a:off x="1190625" y="20574000"/>
            <a:ext cx="217013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F4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DISCHARGE ·reach, all-locale users</a:t>
            </a:r>
            <a:endParaRPr lang="en-US" sz="675" dirty="0"/>
          </a:p>
        </p:txBody>
      </p:sp>
      <p:sp>
        <p:nvSpPr>
          <p:cNvPr id="126" name="Text 123"/>
          <p:cNvSpPr/>
          <p:nvPr/>
        </p:nvSpPr>
        <p:spPr>
          <a:xfrm>
            <a:off x="3790504" y="20574000"/>
            <a:ext cx="5624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b="1" spc="-33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550k</a:t>
            </a:r>
            <a:endParaRPr lang="en-US" sz="1650" dirty="0"/>
          </a:p>
        </p:txBody>
      </p:sp>
      <p:sp>
        <p:nvSpPr>
          <p:cNvPr id="127" name="Shape 124"/>
          <p:cNvSpPr/>
          <p:nvPr/>
        </p:nvSpPr>
        <p:spPr>
          <a:xfrm>
            <a:off x="876300" y="20574000"/>
            <a:ext cx="3714750" cy="1240631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128" name="Text 125"/>
          <p:cNvSpPr/>
          <p:nvPr/>
        </p:nvSpPr>
        <p:spPr>
          <a:xfrm>
            <a:off x="1066800" y="20574000"/>
            <a:ext cx="34337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 REVIEW</a:t>
            </a:r>
            <a:endParaRPr lang="en-US" sz="750" dirty="0"/>
          </a:p>
        </p:txBody>
      </p:sp>
      <p:sp>
        <p:nvSpPr>
          <p:cNvPr id="129" name="Text 126"/>
          <p:cNvSpPr/>
          <p:nvPr/>
        </p:nvSpPr>
        <p:spPr>
          <a:xfrm>
            <a:off x="1066800" y="20574000"/>
            <a:ext cx="34337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F4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"First designer I've worked with who asked which feature I had weighted least, then redesigned around that answer."</a:t>
            </a:r>
            <a:endParaRPr lang="en-US" sz="975" dirty="0"/>
          </a:p>
        </p:txBody>
      </p:sp>
      <p:sp>
        <p:nvSpPr>
          <p:cNvPr id="130" name="Text 127"/>
          <p:cNvSpPr/>
          <p:nvPr/>
        </p:nvSpPr>
        <p:spPr>
          <a:xfrm>
            <a:off x="1066800" y="20574000"/>
            <a:ext cx="34337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43" kern="0" dirty="0">
                <a:solidFill>
                  <a:srgbClr val="22C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SCIENTIST · SAHAJ SOFTWARE</a:t>
            </a:r>
            <a:endParaRPr lang="en-US" sz="713" dirty="0"/>
          </a:p>
        </p:txBody>
      </p:sp>
      <p:sp>
        <p:nvSpPr>
          <p:cNvPr id="131" name="Shape 128"/>
          <p:cNvSpPr/>
          <p:nvPr/>
        </p:nvSpPr>
        <p:spPr>
          <a:xfrm>
            <a:off x="5581650" y="838200"/>
            <a:ext cx="1751335" cy="309563"/>
          </a:xfrm>
          <a:prstGeom prst="rect">
            <a:avLst/>
          </a:prstGeom>
          <a:solidFill>
            <a:srgbClr val="241324"/>
          </a:solidFill>
          <a:ln/>
        </p:spPr>
      </p:sp>
      <p:sp>
        <p:nvSpPr>
          <p:cNvPr id="132" name="Text 129"/>
          <p:cNvSpPr/>
          <p:nvPr/>
        </p:nvSpPr>
        <p:spPr>
          <a:xfrm>
            <a:off x="5695950" y="895350"/>
            <a:ext cx="159893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02</a:t>
            </a:r>
            <a:endParaRPr lang="en-US" sz="1350" dirty="0"/>
          </a:p>
        </p:txBody>
      </p:sp>
      <p:sp>
        <p:nvSpPr>
          <p:cNvPr id="133" name="Text 130"/>
          <p:cNvSpPr/>
          <p:nvPr/>
        </p:nvSpPr>
        <p:spPr>
          <a:xfrm>
            <a:off x="7466335" y="895350"/>
            <a:ext cx="261401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WINE · SODIUM · CYAN</a:t>
            </a:r>
            <a:endParaRPr lang="en-US" sz="1350" dirty="0"/>
          </a:p>
        </p:txBody>
      </p:sp>
      <p:sp>
        <p:nvSpPr>
          <p:cNvPr id="134" name="Text 131"/>
          <p:cNvSpPr/>
          <p:nvPr/>
        </p:nvSpPr>
        <p:spPr>
          <a:xfrm>
            <a:off x="5581650" y="1414463"/>
            <a:ext cx="12302681" cy="205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spc="-203" kern="0" dirty="0">
                <a:solidFill>
                  <a:srgbClr val="2413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Patient Chart.</a:t>
            </a:r>
            <a:endParaRPr lang="en-US" sz="8100" dirty="0"/>
          </a:p>
        </p:txBody>
      </p:sp>
      <p:sp>
        <p:nvSpPr>
          <p:cNvPr id="135" name="Text 132"/>
          <p:cNvSpPr/>
          <p:nvPr/>
        </p:nvSpPr>
        <p:spPr>
          <a:xfrm>
            <a:off x="5581650" y="3735437"/>
            <a:ext cx="902589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3A23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clients as patients. Each case: Symptoms, Diagnosis, Treatment, Discharge metric. Bypasses the NDA wall through medical-record discretion — clients are diagnoses, not screenshots.</a:t>
            </a:r>
            <a:endParaRPr lang="en-US" sz="1950" dirty="0"/>
          </a:p>
        </p:txBody>
      </p:sp>
      <p:sp>
        <p:nvSpPr>
          <p:cNvPr id="136" name="Text 133"/>
          <p:cNvSpPr/>
          <p:nvPr/>
        </p:nvSpPr>
        <p:spPr>
          <a:xfrm>
            <a:off x="5581650" y="5231681"/>
            <a:ext cx="1230268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</a:t>
            </a:r>
            <a:endParaRPr lang="en-US" sz="1350" dirty="0"/>
          </a:p>
        </p:txBody>
      </p:sp>
      <p:sp>
        <p:nvSpPr>
          <p:cNvPr id="137" name="Shape 134"/>
          <p:cNvSpPr/>
          <p:nvPr/>
        </p:nvSpPr>
        <p:spPr>
          <a:xfrm>
            <a:off x="55816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41324"/>
          </a:solidFill>
          <a:ln/>
        </p:spPr>
      </p:sp>
      <p:sp>
        <p:nvSpPr>
          <p:cNvPr id="138" name="Shape 135"/>
          <p:cNvSpPr/>
          <p:nvPr/>
        </p:nvSpPr>
        <p:spPr>
          <a:xfrm>
            <a:off x="62865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FF6A1C"/>
          </a:solidFill>
          <a:ln/>
        </p:spPr>
      </p:sp>
      <p:sp>
        <p:nvSpPr>
          <p:cNvPr id="139" name="Shape 136"/>
          <p:cNvSpPr/>
          <p:nvPr/>
        </p:nvSpPr>
        <p:spPr>
          <a:xfrm>
            <a:off x="69913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2C5C9"/>
          </a:solidFill>
          <a:ln/>
        </p:spPr>
      </p:sp>
      <p:sp>
        <p:nvSpPr>
          <p:cNvPr id="140" name="Shape 137"/>
          <p:cNvSpPr/>
          <p:nvPr/>
        </p:nvSpPr>
        <p:spPr>
          <a:xfrm>
            <a:off x="76962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7D3FB8"/>
          </a:solidFill>
          <a:ln/>
        </p:spPr>
      </p:sp>
      <p:sp>
        <p:nvSpPr>
          <p:cNvPr id="141" name="Shape 138"/>
          <p:cNvSpPr/>
          <p:nvPr/>
        </p:nvSpPr>
        <p:spPr>
          <a:xfrm>
            <a:off x="84010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F4EAD4"/>
          </a:solidFill>
          <a:ln/>
        </p:spPr>
      </p:sp>
      <p:sp>
        <p:nvSpPr>
          <p:cNvPr id="142" name="Shape 139"/>
          <p:cNvSpPr/>
          <p:nvPr/>
        </p:nvSpPr>
        <p:spPr>
          <a:xfrm>
            <a:off x="5581650" y="8858771"/>
            <a:ext cx="11944350" cy="9525"/>
          </a:xfrm>
          <a:prstGeom prst="rect">
            <a:avLst/>
          </a:prstGeom>
          <a:solidFill>
            <a:srgbClr val="D8C8B4"/>
          </a:solidFill>
          <a:ln/>
        </p:spPr>
      </p:sp>
      <p:sp>
        <p:nvSpPr>
          <p:cNvPr id="143" name="Text 140"/>
          <p:cNvSpPr/>
          <p:nvPr/>
        </p:nvSpPr>
        <p:spPr>
          <a:xfrm>
            <a:off x="5581650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SOLVES FINDINGS</a:t>
            </a:r>
            <a:endParaRPr lang="en-US" sz="1050" dirty="0"/>
          </a:p>
        </p:txBody>
      </p:sp>
      <p:sp>
        <p:nvSpPr>
          <p:cNvPr id="144" name="Text 141"/>
          <p:cNvSpPr/>
          <p:nvPr/>
        </p:nvSpPr>
        <p:spPr>
          <a:xfrm>
            <a:off x="5581650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03 · 05</a:t>
            </a:r>
            <a:endParaRPr lang="en-US" sz="1425" dirty="0"/>
          </a:p>
        </p:txBody>
      </p:sp>
      <p:sp>
        <p:nvSpPr>
          <p:cNvPr id="145" name="Text 142"/>
          <p:cNvSpPr/>
          <p:nvPr/>
        </p:nvSpPr>
        <p:spPr>
          <a:xfrm>
            <a:off x="11706225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7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AS</a:t>
            </a:r>
            <a:endParaRPr lang="en-US" sz="1050" dirty="0"/>
          </a:p>
        </p:txBody>
      </p:sp>
      <p:sp>
        <p:nvSpPr>
          <p:cNvPr id="146" name="Text 143"/>
          <p:cNvSpPr/>
          <p:nvPr/>
        </p:nvSpPr>
        <p:spPr>
          <a:xfrm>
            <a:off x="11706225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241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/cases · case studies route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A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4133850" cy="7848600"/>
          </a:xfrm>
          <a:prstGeom prst="roundRect">
            <a:avLst>
              <a:gd name="adj" fmla="val 10138"/>
            </a:avLst>
          </a:prstGeom>
          <a:solidFill>
            <a:srgbClr val="1A1A17"/>
          </a:solidFill>
          <a:ln/>
          <a:effectLst>
            <a:outerShdw sx="100000" sy="100000" kx="0" ky="0" algn="bl" rotWithShape="0" blurRad="857250" dist="476250" dir="5400000">
              <a:srgbClr val="000000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76300" y="723900"/>
            <a:ext cx="3714750" cy="20574000"/>
          </a:xfrm>
          <a:prstGeom prst="rect">
            <a:avLst/>
          </a:prstGeom>
          <a:solidFill>
            <a:srgbClr val="F3EADC"/>
          </a:solidFill>
          <a:ln/>
        </p:spPr>
      </p:sp>
      <p:sp>
        <p:nvSpPr>
          <p:cNvPr id="4" name="Shape 2"/>
          <p:cNvSpPr/>
          <p:nvPr/>
        </p:nvSpPr>
        <p:spPr>
          <a:xfrm>
            <a:off x="876300" y="4368403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5" name="Shape 3"/>
          <p:cNvSpPr/>
          <p:nvPr/>
        </p:nvSpPr>
        <p:spPr>
          <a:xfrm>
            <a:off x="1085850" y="895350"/>
            <a:ext cx="1352401" cy="142875"/>
          </a:xfrm>
          <a:prstGeom prst="rect">
            <a:avLst/>
          </a:prstGeom>
          <a:solidFill>
            <a:srgbClr val="FF4A7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914400"/>
            <a:ext cx="131430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F3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A·M / SPECIMEN ZINE</a:t>
            </a:r>
            <a:endParaRPr lang="en-US" sz="713" dirty="0"/>
          </a:p>
        </p:txBody>
      </p:sp>
      <p:sp>
        <p:nvSpPr>
          <p:cNvPr id="7" name="Text 5"/>
          <p:cNvSpPr/>
          <p:nvPr/>
        </p:nvSpPr>
        <p:spPr>
          <a:xfrm>
            <a:off x="3404071" y="914400"/>
            <a:ext cx="105362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NO. 01 · MMXXVI</a:t>
            </a:r>
            <a:endParaRPr lang="en-US" sz="713" dirty="0"/>
          </a:p>
        </p:txBody>
      </p:sp>
      <p:sp>
        <p:nvSpPr>
          <p:cNvPr id="8" name="Text 6"/>
          <p:cNvSpPr/>
          <p:nvPr/>
        </p:nvSpPr>
        <p:spPr>
          <a:xfrm>
            <a:off x="1085850" y="1304925"/>
            <a:ext cx="3394519" cy="2015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6300" spc="-283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</a:t>
            </a:r>
            <a:pPr algn="l" indent="0" marL="0">
              <a:lnSpc>
                <a:spcPct val="82000"/>
              </a:lnSpc>
              <a:buNone/>
            </a:pPr>
            <a:r>
              <a:rPr lang="en-US" sz="6300" i="1" spc="-283" kern="0" dirty="0">
                <a:solidFill>
                  <a:srgbClr val="FF4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won't </a:t>
            </a:r>
            <a:pPr algn="l" indent="0" marL="0">
              <a:lnSpc>
                <a:spcPct val="82000"/>
              </a:lnSpc>
              <a:buNone/>
            </a:pPr>
            <a:r>
              <a:rPr lang="en-US" sz="6300" spc="-283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do.</a:t>
            </a:r>
            <a:endParaRPr lang="en-US" sz="6300" dirty="0"/>
          </a:p>
        </p:txBody>
      </p:sp>
      <p:sp>
        <p:nvSpPr>
          <p:cNvPr id="9" name="Shape 7"/>
          <p:cNvSpPr/>
          <p:nvPr/>
        </p:nvSpPr>
        <p:spPr>
          <a:xfrm>
            <a:off x="4000500" y="1381125"/>
            <a:ext cx="342900" cy="342900"/>
          </a:xfrm>
          <a:prstGeom prst="ellipse">
            <a:avLst/>
          </a:prstGeom>
          <a:solidFill>
            <a:srgbClr val="DFA92A"/>
          </a:solidFill>
          <a:ln/>
        </p:spPr>
      </p:sp>
      <p:sp>
        <p:nvSpPr>
          <p:cNvPr id="10" name="Text 8"/>
          <p:cNvSpPr/>
          <p:nvPr/>
        </p:nvSpPr>
        <p:spPr>
          <a:xfrm>
            <a:off x="1085850" y="3511153"/>
            <a:ext cx="6858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SUBTITLE</a:t>
            </a:r>
            <a:endParaRPr lang="en-US" sz="713" dirty="0"/>
          </a:p>
        </p:txBody>
      </p:sp>
      <p:sp>
        <p:nvSpPr>
          <p:cNvPr id="11" name="Text 9"/>
          <p:cNvSpPr/>
          <p:nvPr/>
        </p:nvSpPr>
        <p:spPr>
          <a:xfrm>
            <a:off x="1828800" y="3454003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specimen book printed in two colors, by a designer who has been asked to. Six plates, each a thing other senior designers will quietly do and I will not.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876300" y="4382691"/>
            <a:ext cx="3714750" cy="595313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13" name="Text 11"/>
          <p:cNvSpPr/>
          <p:nvPr/>
        </p:nvSpPr>
        <p:spPr>
          <a:xfrm>
            <a:off x="895350" y="4516041"/>
            <a:ext cx="89058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5350" y="4749403"/>
            <a:ext cx="89058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81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YR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1804988" y="4382691"/>
            <a:ext cx="9525" cy="595313"/>
          </a:xfrm>
          <a:prstGeom prst="rect">
            <a:avLst/>
          </a:prstGeom>
          <a:solidFill>
            <a:srgbClr val="2A2762"/>
          </a:solidFill>
          <a:ln/>
        </p:spPr>
      </p:sp>
      <p:sp>
        <p:nvSpPr>
          <p:cNvPr id="16" name="Text 14"/>
          <p:cNvSpPr/>
          <p:nvPr/>
        </p:nvSpPr>
        <p:spPr>
          <a:xfrm>
            <a:off x="1833563" y="4516041"/>
            <a:ext cx="8810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FA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33563" y="4749403"/>
            <a:ext cx="88106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81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2733675" y="4382691"/>
            <a:ext cx="9525" cy="595313"/>
          </a:xfrm>
          <a:prstGeom prst="rect">
            <a:avLst/>
          </a:prstGeom>
          <a:solidFill>
            <a:srgbClr val="2A2762"/>
          </a:solidFill>
          <a:ln/>
        </p:spPr>
      </p:sp>
      <p:sp>
        <p:nvSpPr>
          <p:cNvPr id="19" name="Text 17"/>
          <p:cNvSpPr/>
          <p:nvPr/>
        </p:nvSpPr>
        <p:spPr>
          <a:xfrm>
            <a:off x="2762250" y="4516041"/>
            <a:ext cx="8810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4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62250" y="4749403"/>
            <a:ext cx="88106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81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DECKS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3662362" y="4382691"/>
            <a:ext cx="9525" cy="595313"/>
          </a:xfrm>
          <a:prstGeom prst="rect">
            <a:avLst/>
          </a:prstGeom>
          <a:solidFill>
            <a:srgbClr val="2A2762"/>
          </a:solidFill>
          <a:ln/>
        </p:spPr>
      </p:sp>
      <p:sp>
        <p:nvSpPr>
          <p:cNvPr id="22" name="Text 20"/>
          <p:cNvSpPr/>
          <p:nvPr/>
        </p:nvSpPr>
        <p:spPr>
          <a:xfrm>
            <a:off x="3690937" y="4516041"/>
            <a:ext cx="88106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F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90937" y="4749403"/>
            <a:ext cx="881063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81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876300" y="4978003"/>
            <a:ext cx="3714750" cy="6786339"/>
          </a:xfrm>
          <a:prstGeom prst="rect">
            <a:avLst/>
          </a:prstGeom>
          <a:solidFill>
            <a:srgbClr val="F3EADC"/>
          </a:solidFill>
          <a:ln/>
        </p:spPr>
      </p:sp>
      <p:sp>
        <p:nvSpPr>
          <p:cNvPr id="25" name="Shape 23"/>
          <p:cNvSpPr/>
          <p:nvPr/>
        </p:nvSpPr>
        <p:spPr>
          <a:xfrm>
            <a:off x="876300" y="11750055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85850" y="5206603"/>
            <a:ext cx="5323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PLATEI</a:t>
            </a:r>
            <a:endParaRPr lang="en-US" sz="713" dirty="0"/>
          </a:p>
        </p:txBody>
      </p:sp>
      <p:sp>
        <p:nvSpPr>
          <p:cNvPr id="27" name="Text 25"/>
          <p:cNvSpPr/>
          <p:nvPr/>
        </p:nvSpPr>
        <p:spPr>
          <a:xfrm>
            <a:off x="3860155" y="5206603"/>
            <a:ext cx="5975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DEMOS</a:t>
            </a:r>
            <a:endParaRPr lang="en-US" sz="713" dirty="0"/>
          </a:p>
        </p:txBody>
      </p:sp>
      <p:sp>
        <p:nvSpPr>
          <p:cNvPr id="28" name="Text 26"/>
          <p:cNvSpPr/>
          <p:nvPr/>
        </p:nvSpPr>
        <p:spPr>
          <a:xfrm>
            <a:off x="1085850" y="5406628"/>
            <a:ext cx="3394519" cy="3771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900" spc="-310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pPr algn="l" indent="0" marL="0">
              <a:lnSpc>
                <a:spcPct val="85000"/>
              </a:lnSpc>
              <a:buNone/>
            </a:pPr>
            <a:r>
              <a:rPr lang="en-US" sz="6900" i="1" spc="-310" kern="0" dirty="0">
                <a:solidFill>
                  <a:srgbClr val="FF4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</a:t>
            </a:r>
            <a:pPr algn="l" indent="0" marL="0">
              <a:lnSpc>
                <a:spcPct val="85000"/>
              </a:lnSpc>
              <a:buNone/>
            </a:pPr>
            <a:r>
              <a:rPr lang="en-US" sz="6900" spc="-310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mother could see.</a:t>
            </a:r>
            <a:endParaRPr lang="en-US" sz="6900" dirty="0"/>
          </a:p>
        </p:txBody>
      </p:sp>
      <p:sp>
        <p:nvSpPr>
          <p:cNvPr id="29" name="Shape 27"/>
          <p:cNvSpPr/>
          <p:nvPr/>
        </p:nvSpPr>
        <p:spPr>
          <a:xfrm>
            <a:off x="1085850" y="9311655"/>
            <a:ext cx="3295650" cy="9525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85850" y="9492630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FF4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REFUSE</a:t>
            </a:r>
            <a:endParaRPr lang="en-US" sz="713" dirty="0"/>
          </a:p>
        </p:txBody>
      </p:sp>
      <p:sp>
        <p:nvSpPr>
          <p:cNvPr id="31" name="Text 29"/>
          <p:cNvSpPr/>
          <p:nvPr/>
        </p:nvSpPr>
        <p:spPr>
          <a:xfrm>
            <a:off x="1828800" y="9492630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won't ship a happy-path demo and call it the product. The demo is for fundraising; the product runs in the 70% of cases the demo skipped.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1085850" y="10349880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FF4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</a:t>
            </a:r>
            <a:endParaRPr lang="en-US" sz="713" dirty="0"/>
          </a:p>
        </p:txBody>
      </p:sp>
      <p:sp>
        <p:nvSpPr>
          <p:cNvPr id="33" name="Text 31"/>
          <p:cNvSpPr/>
          <p:nvPr/>
        </p:nvSpPr>
        <p:spPr>
          <a:xfrm>
            <a:off x="1828800" y="10349880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prototype the case that breaks the model first. The screen for confidence below 0.6. The screen for no internet. The screen for the user who didn't read the onboarding.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085850" y="11226180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FF4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13" dirty="0"/>
          </a:p>
        </p:txBody>
      </p:sp>
      <p:sp>
        <p:nvSpPr>
          <p:cNvPr id="35" name="Text 33"/>
          <p:cNvSpPr/>
          <p:nvPr/>
        </p:nvSpPr>
        <p:spPr>
          <a:xfrm>
            <a:off x="1828800" y="11226180"/>
            <a:ext cx="26292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5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pe-screening · the first three weeks built nothing but rejection states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876300" y="11764342"/>
            <a:ext cx="3714750" cy="5879604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37" name="Shape 35"/>
          <p:cNvSpPr/>
          <p:nvPr/>
        </p:nvSpPr>
        <p:spPr>
          <a:xfrm>
            <a:off x="876300" y="17629659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38" name="Text 36"/>
          <p:cNvSpPr/>
          <p:nvPr/>
        </p:nvSpPr>
        <p:spPr>
          <a:xfrm>
            <a:off x="1085850" y="11992942"/>
            <a:ext cx="5975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PLATEII</a:t>
            </a:r>
            <a:endParaRPr lang="en-US" sz="713" dirty="0"/>
          </a:p>
        </p:txBody>
      </p:sp>
      <p:sp>
        <p:nvSpPr>
          <p:cNvPr id="39" name="Text 37"/>
          <p:cNvSpPr/>
          <p:nvPr/>
        </p:nvSpPr>
        <p:spPr>
          <a:xfrm>
            <a:off x="3273772" y="11992942"/>
            <a:ext cx="118392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EXPLAINABILITY</a:t>
            </a:r>
            <a:endParaRPr lang="en-US" sz="713" dirty="0"/>
          </a:p>
        </p:txBody>
      </p:sp>
      <p:sp>
        <p:nvSpPr>
          <p:cNvPr id="40" name="Text 38"/>
          <p:cNvSpPr/>
          <p:nvPr/>
        </p:nvSpPr>
        <p:spPr>
          <a:xfrm>
            <a:off x="1085850" y="12192967"/>
            <a:ext cx="3394519" cy="2864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700" i="1" spc="-391" kern="0" dirty="0">
                <a:solidFill>
                  <a:srgbClr val="FF4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</a:t>
            </a:r>
            <a:pPr algn="l" indent="0" marL="0">
              <a:lnSpc>
                <a:spcPct val="85000"/>
              </a:lnSpc>
              <a:buNone/>
            </a:pPr>
            <a:r>
              <a:rPr lang="en-US" sz="8700" spc="-391" kern="0" dirty="0">
                <a:solidFill>
                  <a:srgbClr val="DFA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working.</a:t>
            </a:r>
            <a:endParaRPr lang="en-US" sz="8700" dirty="0"/>
          </a:p>
        </p:txBody>
      </p:sp>
      <p:sp>
        <p:nvSpPr>
          <p:cNvPr id="41" name="Shape 39"/>
          <p:cNvSpPr/>
          <p:nvPr/>
        </p:nvSpPr>
        <p:spPr>
          <a:xfrm>
            <a:off x="1085850" y="15191259"/>
            <a:ext cx="3295650" cy="9525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42" name="Text 40"/>
          <p:cNvSpPr/>
          <p:nvPr/>
        </p:nvSpPr>
        <p:spPr>
          <a:xfrm>
            <a:off x="1085850" y="15372234"/>
            <a:ext cx="68580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DFA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REFUSE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1828800" y="15372234"/>
            <a:ext cx="2629281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DC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won't ship an AI surface that hides why it said what it said. A black box is not a product. It is a coin flip with a UI.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085850" y="16043746"/>
            <a:ext cx="685800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DFA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</a:t>
            </a:r>
            <a:endParaRPr lang="en-US" sz="713" dirty="0"/>
          </a:p>
        </p:txBody>
      </p:sp>
      <p:sp>
        <p:nvSpPr>
          <p:cNvPr id="45" name="Text 43"/>
          <p:cNvSpPr/>
          <p:nvPr/>
        </p:nvSpPr>
        <p:spPr>
          <a:xfrm>
            <a:off x="1828800" y="16043746"/>
            <a:ext cx="2629281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DC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ranking opens to its sources. Every confidence number shows the threshold it crossed. Every recommendation can be inspected, doubted, and overruled, with the model losing nothing in the process.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1085850" y="17105784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DFA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13" dirty="0"/>
          </a:p>
        </p:txBody>
      </p:sp>
      <p:sp>
        <p:nvSpPr>
          <p:cNvPr id="47" name="Text 45"/>
          <p:cNvSpPr/>
          <p:nvPr/>
        </p:nvSpPr>
        <p:spPr>
          <a:xfrm>
            <a:off x="1828800" y="17105784"/>
            <a:ext cx="26292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adtech-ml · confidence band → recommended inventory tier → 3× workflow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876300" y="17643946"/>
            <a:ext cx="3714750" cy="5206231"/>
          </a:xfrm>
          <a:prstGeom prst="rect">
            <a:avLst/>
          </a:prstGeom>
          <a:solidFill>
            <a:srgbClr val="F3EADC"/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" y="22835890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50" name="Text 48"/>
          <p:cNvSpPr/>
          <p:nvPr/>
        </p:nvSpPr>
        <p:spPr>
          <a:xfrm>
            <a:off x="1085850" y="17872546"/>
            <a:ext cx="66265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PLATEIII</a:t>
            </a:r>
            <a:endParaRPr lang="en-US" sz="713" dirty="0"/>
          </a:p>
        </p:txBody>
      </p:sp>
      <p:sp>
        <p:nvSpPr>
          <p:cNvPr id="51" name="Text 49"/>
          <p:cNvSpPr/>
          <p:nvPr/>
        </p:nvSpPr>
        <p:spPr>
          <a:xfrm>
            <a:off x="3404071" y="17872546"/>
            <a:ext cx="105362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CONFIRMATION</a:t>
            </a:r>
            <a:endParaRPr lang="en-US" sz="713" dirty="0"/>
          </a:p>
        </p:txBody>
      </p:sp>
      <p:sp>
        <p:nvSpPr>
          <p:cNvPr id="52" name="Text 50"/>
          <p:cNvSpPr/>
          <p:nvPr/>
        </p:nvSpPr>
        <p:spPr>
          <a:xfrm>
            <a:off x="1085850" y="18072571"/>
            <a:ext cx="3394519" cy="2034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150" spc="-277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ask if you</a:t>
            </a:r>
            <a:pPr algn="l" indent="0" marL="0">
              <a:lnSpc>
                <a:spcPct val="85000"/>
              </a:lnSpc>
              <a:buNone/>
            </a:pPr>
            <a:r>
              <a:rPr lang="en-US" sz="6150" i="1" spc="-277" kern="0" dirty="0">
                <a:solidFill>
                  <a:srgbClr val="244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know.</a:t>
            </a:r>
            <a:endParaRPr lang="en-US" sz="6150" dirty="0"/>
          </a:p>
        </p:txBody>
      </p:sp>
      <p:sp>
        <p:nvSpPr>
          <p:cNvPr id="53" name="Shape 51"/>
          <p:cNvSpPr/>
          <p:nvPr/>
        </p:nvSpPr>
        <p:spPr>
          <a:xfrm>
            <a:off x="1085850" y="20240327"/>
            <a:ext cx="3295650" cy="9525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54" name="Text 52"/>
          <p:cNvSpPr/>
          <p:nvPr/>
        </p:nvSpPr>
        <p:spPr>
          <a:xfrm>
            <a:off x="1085850" y="20421302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REFUSE</a:t>
            </a:r>
            <a:endParaRPr lang="en-US" sz="713" dirty="0"/>
          </a:p>
        </p:txBody>
      </p:sp>
      <p:sp>
        <p:nvSpPr>
          <p:cNvPr id="55" name="Text 53"/>
          <p:cNvSpPr/>
          <p:nvPr/>
        </p:nvSpPr>
        <p:spPr>
          <a:xfrm>
            <a:off x="1828800" y="20421302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won't put an 'Are you sure?' on top of a model that is correct 99% of the time. That isn't safety — it's the design refusing to take a position.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1085850" y="20574000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</a:t>
            </a:r>
            <a:endParaRPr lang="en-US" sz="713" dirty="0"/>
          </a:p>
        </p:txBody>
      </p:sp>
      <p:sp>
        <p:nvSpPr>
          <p:cNvPr id="57" name="Text 55"/>
          <p:cNvSpPr/>
          <p:nvPr/>
        </p:nvSpPr>
        <p:spPr>
          <a:xfrm>
            <a:off x="1828800" y="20574000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only when confidence is low or impact is irreversible. Earn the right to be trusted by default; require friction only where the model itself is unsure.</a:t>
            </a:r>
            <a:endParaRPr lang="en-US" sz="975" dirty="0"/>
          </a:p>
        </p:txBody>
      </p:sp>
      <p:sp>
        <p:nvSpPr>
          <p:cNvPr id="58" name="Text 56"/>
          <p:cNvSpPr/>
          <p:nvPr/>
        </p:nvSpPr>
        <p:spPr>
          <a:xfrm>
            <a:off x="1085850" y="20574000"/>
            <a:ext cx="685800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13" dirty="0"/>
          </a:p>
        </p:txBody>
      </p:sp>
      <p:sp>
        <p:nvSpPr>
          <p:cNvPr id="59" name="Text 57"/>
          <p:cNvSpPr/>
          <p:nvPr/>
        </p:nvSpPr>
        <p:spPr>
          <a:xfrm>
            <a:off x="1828800" y="20574000"/>
            <a:ext cx="2629281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5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o2-priority · cancellation flow lost two confirmations, gained reversibility, lost zero customers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876300" y="20574000"/>
            <a:ext cx="3714750" cy="5848350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61" name="Shape 59"/>
          <p:cNvSpPr/>
          <p:nvPr/>
        </p:nvSpPr>
        <p:spPr>
          <a:xfrm>
            <a:off x="876300" y="28684240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62" name="Text 60"/>
          <p:cNvSpPr/>
          <p:nvPr/>
        </p:nvSpPr>
        <p:spPr>
          <a:xfrm>
            <a:off x="1085850" y="20574000"/>
            <a:ext cx="5975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PLATEIV</a:t>
            </a:r>
            <a:endParaRPr lang="en-US" sz="713" dirty="0"/>
          </a:p>
        </p:txBody>
      </p:sp>
      <p:sp>
        <p:nvSpPr>
          <p:cNvPr id="63" name="Text 61"/>
          <p:cNvSpPr/>
          <p:nvPr/>
        </p:nvSpPr>
        <p:spPr>
          <a:xfrm>
            <a:off x="3338885" y="20574000"/>
            <a:ext cx="111881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ACCESSIBILITY</a:t>
            </a:r>
            <a:endParaRPr lang="en-US" sz="713" dirty="0"/>
          </a:p>
        </p:txBody>
      </p:sp>
      <p:sp>
        <p:nvSpPr>
          <p:cNvPr id="64" name="Text 62"/>
          <p:cNvSpPr/>
          <p:nvPr/>
        </p:nvSpPr>
        <p:spPr>
          <a:xfrm>
            <a:off x="1085850" y="20574000"/>
            <a:ext cx="3394519" cy="264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000" i="1" spc="-270" kern="0" dirty="0">
                <a:solidFill>
                  <a:srgbClr val="7AF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</a:t>
            </a:r>
            <a:pPr algn="l" indent="0" marL="0">
              <a:lnSpc>
                <a:spcPct val="85000"/>
              </a:lnSpc>
              <a:buNone/>
            </a:pPr>
            <a:r>
              <a:rPr lang="en-US" sz="6000" spc="-270" kern="0" dirty="0">
                <a:solidFill>
                  <a:srgbClr val="F3E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users. Sprint </a:t>
            </a:r>
            <a:pPr algn="l" indent="0" marL="0">
              <a:lnSpc>
                <a:spcPct val="85000"/>
              </a:lnSpc>
              <a:buNone/>
            </a:pPr>
            <a:r>
              <a:rPr lang="en-US" sz="6000" i="1" spc="-270" kern="0" dirty="0">
                <a:solidFill>
                  <a:srgbClr val="FF4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one.</a:t>
            </a:r>
            <a:endParaRPr lang="en-US" sz="6000" dirty="0"/>
          </a:p>
        </p:txBody>
      </p:sp>
      <p:sp>
        <p:nvSpPr>
          <p:cNvPr id="65" name="Shape 63"/>
          <p:cNvSpPr/>
          <p:nvPr/>
        </p:nvSpPr>
        <p:spPr>
          <a:xfrm>
            <a:off x="1085850" y="26060102"/>
            <a:ext cx="3295650" cy="9525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66" name="Text 64"/>
          <p:cNvSpPr/>
          <p:nvPr/>
        </p:nvSpPr>
        <p:spPr>
          <a:xfrm>
            <a:off x="1085850" y="20574000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7AF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REFUSE</a:t>
            </a:r>
            <a:endParaRPr lang="en-US" sz="713" dirty="0"/>
          </a:p>
        </p:txBody>
      </p:sp>
      <p:sp>
        <p:nvSpPr>
          <p:cNvPr id="67" name="Text 65"/>
          <p:cNvSpPr/>
          <p:nvPr/>
        </p:nvSpPr>
        <p:spPr>
          <a:xfrm>
            <a:off x="1828800" y="20574000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DC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won't backlog accessibility. WCAG-AA in week eight is twelve weeks of rework dressed as virtue. Same with localization. Same with right-to-left.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1085850" y="20574000"/>
            <a:ext cx="685800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7AF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</a:t>
            </a:r>
            <a:endParaRPr lang="en-US" sz="713" dirty="0"/>
          </a:p>
        </p:txBody>
      </p:sp>
      <p:sp>
        <p:nvSpPr>
          <p:cNvPr id="69" name="Text 67"/>
          <p:cNvSpPr/>
          <p:nvPr/>
        </p:nvSpPr>
        <p:spPr>
          <a:xfrm>
            <a:off x="1828800" y="20574000"/>
            <a:ext cx="2629281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DC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 reader, the keyboard, the contrast, the locale — these are constraints on the first sketch, not the last commit. They make the design better at every stage, not just the audited one.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1085850" y="20574000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7AF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13" dirty="0"/>
          </a:p>
        </p:txBody>
      </p:sp>
      <p:sp>
        <p:nvSpPr>
          <p:cNvPr id="71" name="Text 69"/>
          <p:cNvSpPr/>
          <p:nvPr/>
        </p:nvSpPr>
        <p:spPr>
          <a:xfrm>
            <a:off x="1828800" y="20574000"/>
            <a:ext cx="26292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ptc-11-locale · 550k users · zero retrofit sprints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876300" y="20574000"/>
            <a:ext cx="3714750" cy="4705350"/>
          </a:xfrm>
          <a:prstGeom prst="rect">
            <a:avLst/>
          </a:prstGeom>
          <a:solidFill>
            <a:srgbClr val="F3EADC"/>
          </a:solidFill>
          <a:ln/>
        </p:spPr>
      </p:sp>
      <p:sp>
        <p:nvSpPr>
          <p:cNvPr id="73" name="Shape 71"/>
          <p:cNvSpPr/>
          <p:nvPr/>
        </p:nvSpPr>
        <p:spPr>
          <a:xfrm>
            <a:off x="876300" y="33389590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74" name="Text 72"/>
          <p:cNvSpPr/>
          <p:nvPr/>
        </p:nvSpPr>
        <p:spPr>
          <a:xfrm>
            <a:off x="1085850" y="20574000"/>
            <a:ext cx="53235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PLATEV</a:t>
            </a:r>
            <a:endParaRPr lang="en-US" sz="713" dirty="0"/>
          </a:p>
        </p:txBody>
      </p:sp>
      <p:sp>
        <p:nvSpPr>
          <p:cNvPr id="75" name="Text 73"/>
          <p:cNvSpPr/>
          <p:nvPr/>
        </p:nvSpPr>
        <p:spPr>
          <a:xfrm>
            <a:off x="3729856" y="20574000"/>
            <a:ext cx="72784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HANDOFF</a:t>
            </a:r>
            <a:endParaRPr lang="en-US" sz="713" dirty="0"/>
          </a:p>
        </p:txBody>
      </p:sp>
      <p:sp>
        <p:nvSpPr>
          <p:cNvPr id="76" name="Text 74"/>
          <p:cNvSpPr/>
          <p:nvPr/>
        </p:nvSpPr>
        <p:spPr>
          <a:xfrm>
            <a:off x="1085850" y="20574000"/>
            <a:ext cx="3394519" cy="150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6750" spc="-304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write the</a:t>
            </a:r>
            <a:pPr algn="l" indent="0" marL="0">
              <a:lnSpc>
                <a:spcPct val="85000"/>
              </a:lnSpc>
              <a:buNone/>
            </a:pPr>
            <a:r>
              <a:rPr lang="en-US" sz="6750" i="1" spc="-304" kern="0" dirty="0">
                <a:solidFill>
                  <a:srgbClr val="244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CSS.</a:t>
            </a:r>
            <a:endParaRPr lang="en-US" sz="6750" dirty="0"/>
          </a:p>
        </p:txBody>
      </p:sp>
      <p:sp>
        <p:nvSpPr>
          <p:cNvPr id="77" name="Shape 75"/>
          <p:cNvSpPr/>
          <p:nvPr/>
        </p:nvSpPr>
        <p:spPr>
          <a:xfrm>
            <a:off x="1085850" y="30765452"/>
            <a:ext cx="3295650" cy="9525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78" name="Text 76"/>
          <p:cNvSpPr/>
          <p:nvPr/>
        </p:nvSpPr>
        <p:spPr>
          <a:xfrm>
            <a:off x="1085850" y="20574000"/>
            <a:ext cx="685800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REFUSE</a:t>
            </a:r>
            <a:endParaRPr lang="en-US" sz="713" dirty="0"/>
          </a:p>
        </p:txBody>
      </p:sp>
      <p:sp>
        <p:nvSpPr>
          <p:cNvPr id="79" name="Text 77"/>
          <p:cNvSpPr/>
          <p:nvPr/>
        </p:nvSpPr>
        <p:spPr>
          <a:xfrm>
            <a:off x="1828800" y="20574000"/>
            <a:ext cx="2629281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won't deliver a Figma file and call my work done. I won't argue from a mockup that the engineer hasn't been allowed to read. I won't review work that someone built from my drawing without me.</a:t>
            </a:r>
            <a:endParaRPr lang="en-US" sz="975" dirty="0"/>
          </a:p>
        </p:txBody>
      </p:sp>
      <p:sp>
        <p:nvSpPr>
          <p:cNvPr id="80" name="Text 78"/>
          <p:cNvSpPr/>
          <p:nvPr/>
        </p:nvSpPr>
        <p:spPr>
          <a:xfrm>
            <a:off x="1085850" y="20574000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</a:t>
            </a:r>
            <a:endParaRPr lang="en-US" sz="713" dirty="0"/>
          </a:p>
        </p:txBody>
      </p:sp>
      <p:sp>
        <p:nvSpPr>
          <p:cNvPr id="81" name="Text 79"/>
          <p:cNvSpPr/>
          <p:nvPr/>
        </p:nvSpPr>
        <p:spPr>
          <a:xfrm>
            <a:off x="1828800" y="20574000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JS in production for the components I designed. React for prototypes. SQL for reading data architectures. PRs reviewed by engineers, not approved by them.</a:t>
            </a:r>
            <a:endParaRPr lang="en-US" sz="975" dirty="0"/>
          </a:p>
        </p:txBody>
      </p:sp>
      <p:sp>
        <p:nvSpPr>
          <p:cNvPr id="82" name="Text 80"/>
          <p:cNvSpPr/>
          <p:nvPr/>
        </p:nvSpPr>
        <p:spPr>
          <a:xfrm>
            <a:off x="1085850" y="20574000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13" dirty="0"/>
          </a:p>
        </p:txBody>
      </p:sp>
      <p:sp>
        <p:nvSpPr>
          <p:cNvPr id="83" name="Text 81"/>
          <p:cNvSpPr/>
          <p:nvPr/>
        </p:nvSpPr>
        <p:spPr>
          <a:xfrm>
            <a:off x="1828800" y="20574000"/>
            <a:ext cx="26292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5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patterns-lib · 24 components, all open-source · no Figma without code beside it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876300" y="20574000"/>
            <a:ext cx="3714750" cy="6171009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85" name="Shape 83"/>
          <p:cNvSpPr/>
          <p:nvPr/>
        </p:nvSpPr>
        <p:spPr>
          <a:xfrm>
            <a:off x="876300" y="39560599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86" name="Text 84"/>
          <p:cNvSpPr/>
          <p:nvPr/>
        </p:nvSpPr>
        <p:spPr>
          <a:xfrm>
            <a:off x="1085850" y="20574000"/>
            <a:ext cx="59754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PLATEVI</a:t>
            </a:r>
            <a:endParaRPr lang="en-US" sz="713" dirty="0"/>
          </a:p>
        </p:txBody>
      </p:sp>
      <p:sp>
        <p:nvSpPr>
          <p:cNvPr id="87" name="Text 85"/>
          <p:cNvSpPr/>
          <p:nvPr/>
        </p:nvSpPr>
        <p:spPr>
          <a:xfrm>
            <a:off x="3729856" y="20574000"/>
            <a:ext cx="72784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SCREENS</a:t>
            </a:r>
            <a:endParaRPr lang="en-US" sz="713" dirty="0"/>
          </a:p>
        </p:txBody>
      </p:sp>
      <p:sp>
        <p:nvSpPr>
          <p:cNvPr id="88" name="Text 86"/>
          <p:cNvSpPr/>
          <p:nvPr/>
        </p:nvSpPr>
        <p:spPr>
          <a:xfrm>
            <a:off x="1085850" y="20574000"/>
            <a:ext cx="3394519" cy="3156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spc="-324" kern="0" dirty="0">
                <a:solidFill>
                  <a:srgbClr val="F3E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algn="l" indent="0" marL="0">
              <a:lnSpc>
                <a:spcPct val="85000"/>
              </a:lnSpc>
              <a:buNone/>
            </a:pPr>
            <a:r>
              <a:rPr lang="en-US" sz="7200" i="1" spc="-324" kern="0" dirty="0">
                <a:solidFill>
                  <a:srgbClr val="DFA9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</a:t>
            </a:r>
            <a:pPr algn="l" indent="0" marL="0">
              <a:lnSpc>
                <a:spcPct val="85000"/>
              </a:lnSpc>
              <a:buNone/>
            </a:pPr>
            <a:r>
              <a:rPr lang="en-US" sz="7200" spc="-324" kern="0" dirty="0">
                <a:solidFill>
                  <a:srgbClr val="F3E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screen.</a:t>
            </a:r>
            <a:endParaRPr lang="en-US" sz="7200" dirty="0"/>
          </a:p>
        </p:txBody>
      </p:sp>
      <p:sp>
        <p:nvSpPr>
          <p:cNvPr id="89" name="Shape 87"/>
          <p:cNvSpPr/>
          <p:nvPr/>
        </p:nvSpPr>
        <p:spPr>
          <a:xfrm>
            <a:off x="1085850" y="37122199"/>
            <a:ext cx="3295650" cy="9525"/>
          </a:xfrm>
          <a:prstGeom prst="rect">
            <a:avLst/>
          </a:prstGeom>
          <a:solidFill>
            <a:srgbClr val="3A3A78"/>
          </a:solidFill>
          <a:ln/>
        </p:spPr>
      </p:sp>
      <p:sp>
        <p:nvSpPr>
          <p:cNvPr id="90" name="Text 88"/>
          <p:cNvSpPr/>
          <p:nvPr/>
        </p:nvSpPr>
        <p:spPr>
          <a:xfrm>
            <a:off x="1085850" y="20574000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DFA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REFUSE</a:t>
            </a:r>
            <a:endParaRPr lang="en-US" sz="713" dirty="0"/>
          </a:p>
        </p:txBody>
      </p:sp>
      <p:sp>
        <p:nvSpPr>
          <p:cNvPr id="91" name="Text 89"/>
          <p:cNvSpPr/>
          <p:nvPr/>
        </p:nvSpPr>
        <p:spPr>
          <a:xfrm>
            <a:off x="1828800" y="20574000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DC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won't design a screen that doesn't know what state it's a slice of. I won't ship a feature without telling you the three you'd cut to keep it.</a:t>
            </a:r>
            <a:endParaRPr lang="en-US" sz="975" dirty="0"/>
          </a:p>
        </p:txBody>
      </p:sp>
      <p:sp>
        <p:nvSpPr>
          <p:cNvPr id="92" name="Text 90"/>
          <p:cNvSpPr/>
          <p:nvPr/>
        </p:nvSpPr>
        <p:spPr>
          <a:xfrm>
            <a:off x="1085850" y="20574000"/>
            <a:ext cx="6858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DFA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</a:t>
            </a:r>
            <a:endParaRPr lang="en-US" sz="713" dirty="0"/>
          </a:p>
        </p:txBody>
      </p:sp>
      <p:sp>
        <p:nvSpPr>
          <p:cNvPr id="93" name="Text 91"/>
          <p:cNvSpPr/>
          <p:nvPr/>
        </p:nvSpPr>
        <p:spPr>
          <a:xfrm>
            <a:off x="1828800" y="20574000"/>
            <a:ext cx="262928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DCDC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the process, sense the signal, then design the decision surface. The intelligent decision is the smallest layer; the two layers below carry the trust.</a:t>
            </a:r>
            <a:endParaRPr lang="en-US" sz="975" dirty="0"/>
          </a:p>
        </p:txBody>
      </p:sp>
      <p:sp>
        <p:nvSpPr>
          <p:cNvPr id="94" name="Text 92"/>
          <p:cNvSpPr/>
          <p:nvPr/>
        </p:nvSpPr>
        <p:spPr>
          <a:xfrm>
            <a:off x="1085850" y="20574000"/>
            <a:ext cx="6858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43" kern="0" dirty="0">
                <a:solidFill>
                  <a:srgbClr val="DFA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13" dirty="0"/>
          </a:p>
        </p:txBody>
      </p:sp>
      <p:sp>
        <p:nvSpPr>
          <p:cNvPr id="95" name="Text 93"/>
          <p:cNvSpPr/>
          <p:nvPr/>
        </p:nvSpPr>
        <p:spPr>
          <a:xfrm>
            <a:off x="1828800" y="20574000"/>
            <a:ext cx="26292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A8A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org-os · 8 modules · designed sole · zero managers in the org chart</a:t>
            </a:r>
            <a:endParaRPr lang="en-US" sz="825" dirty="0"/>
          </a:p>
        </p:txBody>
      </p:sp>
      <p:sp>
        <p:nvSpPr>
          <p:cNvPr id="96" name="Shape 94"/>
          <p:cNvSpPr/>
          <p:nvPr/>
        </p:nvSpPr>
        <p:spPr>
          <a:xfrm>
            <a:off x="876300" y="39574887"/>
            <a:ext cx="3714750" cy="14288"/>
          </a:xfrm>
          <a:prstGeom prst="rect">
            <a:avLst/>
          </a:prstGeom>
          <a:solidFill>
            <a:srgbClr val="15123A"/>
          </a:solidFill>
          <a:ln/>
        </p:spPr>
      </p:sp>
      <p:sp>
        <p:nvSpPr>
          <p:cNvPr id="97" name="Text 95"/>
          <p:cNvSpPr/>
          <p:nvPr/>
        </p:nvSpPr>
        <p:spPr>
          <a:xfrm>
            <a:off x="1085850" y="20574000"/>
            <a:ext cx="339451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86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COLOPHON</a:t>
            </a:r>
            <a:endParaRPr lang="en-US" sz="713" dirty="0"/>
          </a:p>
        </p:txBody>
      </p:sp>
      <p:sp>
        <p:nvSpPr>
          <p:cNvPr id="98" name="Text 96"/>
          <p:cNvSpPr/>
          <p:nvPr/>
        </p:nvSpPr>
        <p:spPr>
          <a:xfrm>
            <a:off x="1085850" y="20574000"/>
            <a:ext cx="3394519" cy="116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spc="-42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in</a:t>
            </a:r>
            <a:pPr algn="l" indent="0" marL="0">
              <a:lnSpc>
                <a:spcPct val="105000"/>
              </a:lnSpc>
              <a:buNone/>
            </a:pPr>
            <a:r>
              <a:rPr lang="en-US" sz="2100" i="1" spc="-42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 Serif</a:t>
            </a:r>
            <a:pPr algn="l" indent="0" marL="0">
              <a:lnSpc>
                <a:spcPct val="105000"/>
              </a:lnSpc>
              <a:buNone/>
            </a:pPr>
            <a:r>
              <a:rPr lang="en-US" sz="2100" spc="-42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pPr algn="l" indent="0" marL="0">
              <a:lnSpc>
                <a:spcPct val="105000"/>
              </a:lnSpc>
              <a:buNone/>
            </a:pPr>
            <a:r>
              <a:rPr lang="en-US" sz="1650" spc="-42" kern="0" dirty="0">
                <a:solidFill>
                  <a:srgbClr val="151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JetBrains Mono. </a:t>
            </a:r>
            <a:pPr algn="l" indent="0" marL="0">
              <a:lnSpc>
                <a:spcPct val="105000"/>
              </a:lnSpc>
              <a:buNone/>
            </a:pPr>
            <a:r>
              <a:rPr lang="en-US" sz="2100" spc="-42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Printed in</a:t>
            </a:r>
            <a:pPr algn="l" indent="0" marL="0">
              <a:lnSpc>
                <a:spcPct val="105000"/>
              </a:lnSpc>
              <a:buNone/>
            </a:pPr>
            <a:r>
              <a:rPr lang="en-US" sz="2100" spc="-42" kern="0" dirty="0">
                <a:solidFill>
                  <a:srgbClr val="2444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cobalt</a:t>
            </a:r>
            <a:pPr algn="l" indent="0" marL="0">
              <a:lnSpc>
                <a:spcPct val="105000"/>
              </a:lnSpc>
              <a:buNone/>
            </a:pPr>
            <a:r>
              <a:rPr lang="en-US" sz="2100" spc="-42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pPr algn="l" indent="0" marL="0">
              <a:lnSpc>
                <a:spcPct val="105000"/>
              </a:lnSpc>
              <a:buNone/>
            </a:pPr>
            <a:r>
              <a:rPr lang="en-US" sz="2100" spc="-42" kern="0" dirty="0">
                <a:solidFill>
                  <a:srgbClr val="FF4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coral </a:t>
            </a:r>
            <a:pPr algn="l" indent="0" marL="0">
              <a:lnSpc>
                <a:spcPct val="105000"/>
              </a:lnSpc>
              <a:buNone/>
            </a:pPr>
            <a:r>
              <a:rPr lang="en-US" sz="2100" spc="-42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Arpit Maheshwari, Indore.</a:t>
            </a:r>
            <a:endParaRPr lang="en-US" sz="2100" dirty="0"/>
          </a:p>
        </p:txBody>
      </p:sp>
      <p:sp>
        <p:nvSpPr>
          <p:cNvPr id="99" name="Shape 97"/>
          <p:cNvSpPr/>
          <p:nvPr/>
        </p:nvSpPr>
        <p:spPr>
          <a:xfrm>
            <a:off x="1085850" y="20574000"/>
            <a:ext cx="3295650" cy="466725"/>
          </a:xfrm>
          <a:prstGeom prst="rect">
            <a:avLst/>
          </a:prstGeom>
          <a:solidFill>
            <a:srgbClr val="FF4A72"/>
          </a:solidFill>
          <a:ln/>
        </p:spPr>
      </p:sp>
      <p:sp>
        <p:nvSpPr>
          <p:cNvPr id="100" name="Text 98"/>
          <p:cNvSpPr/>
          <p:nvPr/>
        </p:nvSpPr>
        <p:spPr>
          <a:xfrm>
            <a:off x="1238250" y="20574000"/>
            <a:ext cx="13582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F3E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 to issue 02 →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3387030" y="20574000"/>
            <a:ext cx="9182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F3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 · BOOK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581650" y="838200"/>
            <a:ext cx="1751335" cy="309563"/>
          </a:xfrm>
          <a:prstGeom prst="rect">
            <a:avLst/>
          </a:prstGeom>
          <a:solidFill>
            <a:srgbClr val="FF4A72"/>
          </a:solidFill>
          <a:ln/>
        </p:spPr>
      </p:sp>
      <p:sp>
        <p:nvSpPr>
          <p:cNvPr id="103" name="Text 101"/>
          <p:cNvSpPr/>
          <p:nvPr/>
        </p:nvSpPr>
        <p:spPr>
          <a:xfrm>
            <a:off x="5695950" y="895350"/>
            <a:ext cx="159893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3E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03</a:t>
            </a:r>
            <a:endParaRPr lang="en-US" sz="1350" dirty="0"/>
          </a:p>
        </p:txBody>
      </p:sp>
      <p:sp>
        <p:nvSpPr>
          <p:cNvPr id="104" name="Text 102"/>
          <p:cNvSpPr/>
          <p:nvPr/>
        </p:nvSpPr>
        <p:spPr>
          <a:xfrm>
            <a:off x="7466335" y="895350"/>
            <a:ext cx="405161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CORAL · COBALT · MUSTARD · BONE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5581650" y="1414463"/>
            <a:ext cx="12302681" cy="205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spc="-203" kern="0" dirty="0">
                <a:solidFill>
                  <a:srgbClr val="151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Specimen Zine.</a:t>
            </a:r>
            <a:endParaRPr lang="en-US" sz="8100" dirty="0"/>
          </a:p>
        </p:txBody>
      </p:sp>
      <p:sp>
        <p:nvSpPr>
          <p:cNvPr id="106" name="Text 104"/>
          <p:cNvSpPr/>
          <p:nvPr/>
        </p:nvSpPr>
        <p:spPr>
          <a:xfrm>
            <a:off x="5581650" y="3735437"/>
            <a:ext cx="9025890" cy="11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Riso-punk type specimen. Six plates, each titled "Things I </a:t>
            </a:r>
            <a:pPr algn="l" indent="0" marL="0">
              <a:lnSpc>
                <a:spcPct val="145000"/>
              </a:lnSpc>
              <a:buNone/>
            </a:pPr>
            <a:r>
              <a:rPr lang="en-US" sz="1950" i="1" dirty="0">
                <a:solidFill>
                  <a:srgbClr val="2A2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do" — opens with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27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REFUSE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27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DO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A27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differentiation is in what he turns down, not what he claims.</a:t>
            </a:r>
            <a:endParaRPr lang="en-US" sz="1950" dirty="0"/>
          </a:p>
        </p:txBody>
      </p:sp>
      <p:sp>
        <p:nvSpPr>
          <p:cNvPr id="107" name="Text 105"/>
          <p:cNvSpPr/>
          <p:nvPr/>
        </p:nvSpPr>
        <p:spPr>
          <a:xfrm>
            <a:off x="5581650" y="5233615"/>
            <a:ext cx="1230268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</a:t>
            </a:r>
            <a:endParaRPr lang="en-US" sz="1350" dirty="0"/>
          </a:p>
        </p:txBody>
      </p:sp>
      <p:sp>
        <p:nvSpPr>
          <p:cNvPr id="108" name="Shape 106"/>
          <p:cNvSpPr/>
          <p:nvPr/>
        </p:nvSpPr>
        <p:spPr>
          <a:xfrm>
            <a:off x="5581650" y="5543178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F3EADC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286500" y="5543178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FF4A72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991350" y="5543178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444C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696200" y="5543178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5123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401050" y="5543178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DFA92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581650" y="8858771"/>
            <a:ext cx="11944350" cy="9525"/>
          </a:xfrm>
          <a:prstGeom prst="rect">
            <a:avLst/>
          </a:prstGeom>
          <a:solidFill>
            <a:srgbClr val="2444C0"/>
          </a:solidFill>
          <a:ln/>
        </p:spPr>
      </p:sp>
      <p:sp>
        <p:nvSpPr>
          <p:cNvPr id="114" name="Text 112"/>
          <p:cNvSpPr/>
          <p:nvPr/>
        </p:nvSpPr>
        <p:spPr>
          <a:xfrm>
            <a:off x="5581650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SOLVES FINDINGS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5581650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07</a:t>
            </a:r>
            <a:endParaRPr lang="en-US" sz="1425" dirty="0"/>
          </a:p>
        </p:txBody>
      </p:sp>
      <p:sp>
        <p:nvSpPr>
          <p:cNvPr id="116" name="Text 114"/>
          <p:cNvSpPr/>
          <p:nvPr/>
        </p:nvSpPr>
        <p:spPr>
          <a:xfrm>
            <a:off x="11706225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2444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AS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11706225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51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/principles · philosophy route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3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4133850" cy="7848600"/>
          </a:xfrm>
          <a:prstGeom prst="roundRect">
            <a:avLst>
              <a:gd name="adj" fmla="val 10138"/>
            </a:avLst>
          </a:prstGeom>
          <a:solidFill>
            <a:srgbClr val="1A1A17"/>
          </a:solidFill>
          <a:ln/>
          <a:effectLst>
            <a:outerShdw sx="100000" sy="100000" kx="0" ky="0" algn="bl" rotWithShape="0" blurRad="857250" dist="476250" dir="5400000">
              <a:srgbClr val="000000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76300" y="723900"/>
            <a:ext cx="3714750" cy="18097500"/>
          </a:xfrm>
          <a:prstGeom prst="rect">
            <a:avLst/>
          </a:prstGeom>
          <a:solidFill>
            <a:srgbClr val="E3D3A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876300" y="723900"/>
            <a:ext cx="3714750" cy="1809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6300" y="1088231"/>
            <a:ext cx="3714750" cy="19050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6" name="Text 3"/>
          <p:cNvSpPr/>
          <p:nvPr/>
        </p:nvSpPr>
        <p:spPr>
          <a:xfrm>
            <a:off x="1085850" y="857250"/>
            <a:ext cx="1614711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57" kern="0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SURVEY · ARPIT MAHESHWARI</a:t>
            </a:r>
            <a:endParaRPr lang="en-US" sz="713" dirty="0"/>
          </a:p>
        </p:txBody>
      </p:sp>
      <p:sp>
        <p:nvSpPr>
          <p:cNvPr id="7" name="Text 4"/>
          <p:cNvSpPr/>
          <p:nvPr/>
        </p:nvSpPr>
        <p:spPr>
          <a:xfrm>
            <a:off x="3766096" y="857250"/>
            <a:ext cx="691604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57" kern="0" dirty="0">
                <a:solidFill>
                  <a:srgbClr val="A832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 AM-15</a:t>
            </a:r>
            <a:endParaRPr lang="en-US" sz="713" dirty="0"/>
          </a:p>
        </p:txBody>
      </p:sp>
      <p:sp>
        <p:nvSpPr>
          <p:cNvPr id="8" name="Text 5"/>
          <p:cNvSpPr/>
          <p:nvPr/>
        </p:nvSpPr>
        <p:spPr>
          <a:xfrm>
            <a:off x="1085850" y="1316831"/>
            <a:ext cx="33945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1 — TRAVERSE · 2010 → NOW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085850" y="1554956"/>
            <a:ext cx="3394519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b="1" spc="-56" kern="0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surveyor's notebook after fifteen years </a:t>
            </a:r>
            <a:pPr algn="l" indent="0" marL="0">
              <a:lnSpc>
                <a:spcPct val="105000"/>
              </a:lnSpc>
              <a:buNone/>
            </a:pPr>
            <a:r>
              <a:rPr lang="en-US" sz="2250" b="1" spc="-56" kern="0" dirty="0">
                <a:solidFill>
                  <a:srgbClr val="A83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field.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85850" y="2550319"/>
            <a:ext cx="3335655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6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plotted to scale on one chart. Bands by sector, contour by sole-ownership depth, trail markers where I camped longest.</a:t>
            </a:r>
            <a:endParaRPr lang="en-US" sz="938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237309"/>
            <a:ext cx="3295650" cy="2190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85850" y="5561409"/>
            <a:ext cx="3295650" cy="990600"/>
          </a:xfrm>
          <a:prstGeom prst="rect">
            <a:avLst/>
          </a:prstGeom>
          <a:solidFill>
            <a:srgbClr val="F0E2B8"/>
          </a:solidFill>
          <a:ln w="9525">
            <a:solidFill>
              <a:srgbClr val="1A1F3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09675" y="5666184"/>
            <a:ext cx="155257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54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</a:t>
            </a:r>
            <a:endParaRPr lang="en-US" sz="675" dirty="0"/>
          </a:p>
        </p:txBody>
      </p:sp>
      <p:sp>
        <p:nvSpPr>
          <p:cNvPr id="14" name="Shape 10"/>
          <p:cNvSpPr/>
          <p:nvPr/>
        </p:nvSpPr>
        <p:spPr>
          <a:xfrm>
            <a:off x="1209675" y="5901928"/>
            <a:ext cx="133350" cy="28575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15" name="Text 11"/>
          <p:cNvSpPr/>
          <p:nvPr/>
        </p:nvSpPr>
        <p:spPr>
          <a:xfrm>
            <a:off x="1400175" y="5851922"/>
            <a:ext cx="48778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sole-own</a:t>
            </a:r>
            <a:endParaRPr lang="en-US" sz="675" dirty="0"/>
          </a:p>
        </p:txBody>
      </p:sp>
      <p:sp>
        <p:nvSpPr>
          <p:cNvPr id="16" name="Shape 12"/>
          <p:cNvSpPr/>
          <p:nvPr/>
        </p:nvSpPr>
        <p:spPr>
          <a:xfrm>
            <a:off x="1209675" y="6030516"/>
            <a:ext cx="133350" cy="28575"/>
          </a:xfrm>
          <a:prstGeom prst="rect">
            <a:avLst/>
          </a:prstGeom>
          <a:solidFill>
            <a:srgbClr val="A83218"/>
          </a:solidFill>
          <a:ln/>
        </p:spPr>
      </p:sp>
      <p:sp>
        <p:nvSpPr>
          <p:cNvPr id="17" name="Text 13"/>
          <p:cNvSpPr/>
          <p:nvPr/>
        </p:nvSpPr>
        <p:spPr>
          <a:xfrm>
            <a:off x="1400175" y="5980509"/>
            <a:ext cx="43636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co-lead</a:t>
            </a:r>
            <a:endParaRPr lang="en-US" sz="675" dirty="0"/>
          </a:p>
        </p:txBody>
      </p:sp>
      <p:sp>
        <p:nvSpPr>
          <p:cNvPr id="18" name="Shape 14"/>
          <p:cNvSpPr/>
          <p:nvPr/>
        </p:nvSpPr>
        <p:spPr>
          <a:xfrm>
            <a:off x="1209675" y="6159103"/>
            <a:ext cx="133350" cy="28575"/>
          </a:xfrm>
          <a:prstGeom prst="rect">
            <a:avLst/>
          </a:prstGeom>
          <a:solidFill>
            <a:srgbClr val="9EB02E"/>
          </a:solidFill>
          <a:ln/>
        </p:spPr>
      </p:sp>
      <p:sp>
        <p:nvSpPr>
          <p:cNvPr id="19" name="Text 15"/>
          <p:cNvSpPr/>
          <p:nvPr/>
        </p:nvSpPr>
        <p:spPr>
          <a:xfrm>
            <a:off x="1400175" y="6109097"/>
            <a:ext cx="53920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work</a:t>
            </a:r>
            <a:endParaRPr lang="en-US" sz="675" dirty="0"/>
          </a:p>
        </p:txBody>
      </p:sp>
      <p:sp>
        <p:nvSpPr>
          <p:cNvPr id="20" name="Text 16"/>
          <p:cNvSpPr/>
          <p:nvPr/>
        </p:nvSpPr>
        <p:spPr>
          <a:xfrm>
            <a:off x="1209675" y="6275784"/>
            <a:ext cx="1450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A832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⚑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335658" y="6297216"/>
            <a:ext cx="745034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1A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now</a:t>
            </a:r>
            <a:endParaRPr lang="en-US" sz="675" dirty="0"/>
          </a:p>
        </p:txBody>
      </p:sp>
      <p:sp>
        <p:nvSpPr>
          <p:cNvPr id="22" name="Text 18"/>
          <p:cNvSpPr/>
          <p:nvPr/>
        </p:nvSpPr>
        <p:spPr>
          <a:xfrm>
            <a:off x="2781300" y="5666184"/>
            <a:ext cx="155257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54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BAR</a:t>
            </a:r>
            <a:endParaRPr lang="en-US" sz="675" dirty="0"/>
          </a:p>
        </p:txBody>
      </p:sp>
      <p:sp>
        <p:nvSpPr>
          <p:cNvPr id="23" name="Shape 19"/>
          <p:cNvSpPr/>
          <p:nvPr/>
        </p:nvSpPr>
        <p:spPr>
          <a:xfrm>
            <a:off x="2781300" y="5851922"/>
            <a:ext cx="359569" cy="114300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24" name="Shape 20"/>
          <p:cNvSpPr/>
          <p:nvPr/>
        </p:nvSpPr>
        <p:spPr>
          <a:xfrm>
            <a:off x="3140869" y="5851922"/>
            <a:ext cx="378619" cy="114300"/>
          </a:xfrm>
          <a:prstGeom prst="rect">
            <a:avLst/>
          </a:prstGeom>
          <a:solidFill>
            <a:srgbClr val="E3D3A5"/>
          </a:solidFill>
          <a:ln w="9525">
            <a:solidFill>
              <a:srgbClr val="1A1F3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519488" y="5851922"/>
            <a:ext cx="359569" cy="114300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26" name="Shape 22"/>
          <p:cNvSpPr/>
          <p:nvPr/>
        </p:nvSpPr>
        <p:spPr>
          <a:xfrm>
            <a:off x="3879056" y="5851922"/>
            <a:ext cx="378619" cy="114300"/>
          </a:xfrm>
          <a:prstGeom prst="rect">
            <a:avLst/>
          </a:prstGeom>
          <a:solidFill>
            <a:srgbClr val="E3D3A5"/>
          </a:solidFill>
          <a:ln w="9525">
            <a:solidFill>
              <a:srgbClr val="1A1F3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81300" y="6004322"/>
            <a:ext cx="1219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3197200" y="6004322"/>
            <a:ext cx="1676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4y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3658865" y="6004322"/>
            <a:ext cx="1676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8y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4120455" y="6004322"/>
            <a:ext cx="2134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16y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1085850" y="6723459"/>
            <a:ext cx="3295650" cy="433388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32" name="Text 28"/>
          <p:cNvSpPr/>
          <p:nvPr/>
        </p:nvSpPr>
        <p:spPr>
          <a:xfrm>
            <a:off x="1238250" y="6847284"/>
            <a:ext cx="21580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3D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next coordinate — 30 min</a:t>
            </a:r>
            <a:endParaRPr lang="en-US" sz="975" dirty="0"/>
          </a:p>
        </p:txBody>
      </p:sp>
      <p:sp>
        <p:nvSpPr>
          <p:cNvPr id="33" name="Text 29"/>
          <p:cNvSpPr/>
          <p:nvPr/>
        </p:nvSpPr>
        <p:spPr>
          <a:xfrm>
            <a:off x="3725912" y="6861572"/>
            <a:ext cx="57938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E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⚑ Q2 '26</a:t>
            </a:r>
            <a:endParaRPr lang="en-US" sz="825" dirty="0"/>
          </a:p>
        </p:txBody>
      </p:sp>
      <p:sp>
        <p:nvSpPr>
          <p:cNvPr id="34" name="Shape 30"/>
          <p:cNvSpPr/>
          <p:nvPr/>
        </p:nvSpPr>
        <p:spPr>
          <a:xfrm>
            <a:off x="876300" y="7328297"/>
            <a:ext cx="3714750" cy="19050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35" name="Text 31"/>
          <p:cNvSpPr/>
          <p:nvPr/>
        </p:nvSpPr>
        <p:spPr>
          <a:xfrm>
            <a:off x="1085850" y="7633097"/>
            <a:ext cx="33945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2 — OUTCOMES · BEFORE / AFTER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1085850" y="7909322"/>
            <a:ext cx="16478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throughput</a:t>
            </a:r>
            <a:endParaRPr lang="en-US" sz="825" dirty="0"/>
          </a:p>
        </p:txBody>
      </p:sp>
      <p:sp>
        <p:nvSpPr>
          <p:cNvPr id="37" name="Text 33"/>
          <p:cNvSpPr/>
          <p:nvPr/>
        </p:nvSpPr>
        <p:spPr>
          <a:xfrm>
            <a:off x="1085850" y="8085534"/>
            <a:ext cx="16478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adtech / programmatic</a:t>
            </a:r>
            <a:endParaRPr lang="en-US" sz="675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8290322"/>
            <a:ext cx="1571625" cy="3810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809875" y="7909322"/>
            <a:ext cx="16478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cycle</a:t>
            </a:r>
            <a:endParaRPr lang="en-US" sz="825" dirty="0"/>
          </a:p>
        </p:txBody>
      </p:sp>
      <p:sp>
        <p:nvSpPr>
          <p:cNvPr id="40" name="Text 35"/>
          <p:cNvSpPr/>
          <p:nvPr/>
        </p:nvSpPr>
        <p:spPr>
          <a:xfrm>
            <a:off x="2809875" y="8085534"/>
            <a:ext cx="16478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 / PE</a:t>
            </a:r>
            <a:endParaRPr lang="en-US" sz="675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75" y="8290322"/>
            <a:ext cx="1571625" cy="3810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085850" y="8823722"/>
            <a:ext cx="16478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volume</a:t>
            </a:r>
            <a:endParaRPr lang="en-US" sz="825" dirty="0"/>
          </a:p>
        </p:txBody>
      </p:sp>
      <p:sp>
        <p:nvSpPr>
          <p:cNvPr id="43" name="Text 37"/>
          <p:cNvSpPr/>
          <p:nvPr/>
        </p:nvSpPr>
        <p:spPr>
          <a:xfrm>
            <a:off x="1085850" y="8999934"/>
            <a:ext cx="16478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telecom / O₂</a:t>
            </a:r>
            <a:endParaRPr lang="en-US" sz="675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9204722"/>
            <a:ext cx="1571625" cy="38100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2809875" y="8823722"/>
            <a:ext cx="16478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WCAG-AA reach</a:t>
            </a:r>
            <a:endParaRPr lang="en-US" sz="825" dirty="0"/>
          </a:p>
        </p:txBody>
      </p:sp>
      <p:sp>
        <p:nvSpPr>
          <p:cNvPr id="46" name="Text 39"/>
          <p:cNvSpPr/>
          <p:nvPr/>
        </p:nvSpPr>
        <p:spPr>
          <a:xfrm>
            <a:off x="2809875" y="8999934"/>
            <a:ext cx="16478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edtech / 11 loc.</a:t>
            </a:r>
            <a:endParaRPr lang="en-US" sz="675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9875" y="9204722"/>
            <a:ext cx="1571625" cy="381000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876300" y="9661922"/>
            <a:ext cx="3714750" cy="19050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49" name="Text 41"/>
          <p:cNvSpPr/>
          <p:nvPr/>
        </p:nvSpPr>
        <p:spPr>
          <a:xfrm>
            <a:off x="1085850" y="9909572"/>
            <a:ext cx="33945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3 — TERRAIN · DEPTH × SECTOR</a:t>
            </a:r>
            <a:endParaRPr lang="en-US" sz="75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10185797"/>
            <a:ext cx="3295650" cy="1447800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>
            <a:off x="876300" y="11709797"/>
            <a:ext cx="3714750" cy="19050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52" name="Text 43"/>
          <p:cNvSpPr/>
          <p:nvPr/>
        </p:nvSpPr>
        <p:spPr>
          <a:xfrm>
            <a:off x="1085850" y="11919347"/>
            <a:ext cx="33945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PLATE 4 — FIELD JOURNAL ENTRY</a:t>
            </a:r>
            <a:endParaRPr lang="en-US" sz="750" dirty="0"/>
          </a:p>
        </p:txBody>
      </p:sp>
      <p:sp>
        <p:nvSpPr>
          <p:cNvPr id="53" name="Text 44"/>
          <p:cNvSpPr/>
          <p:nvPr/>
        </p:nvSpPr>
        <p:spPr>
          <a:xfrm>
            <a:off x="1085850" y="12157472"/>
            <a:ext cx="3335655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"Removed thirty four screens. Nobody noticed they were gone. The product got faster, the team got smaller, and the CSAT went up four points."</a:t>
            </a:r>
            <a:endParaRPr lang="en-US" sz="1050" dirty="0"/>
          </a:p>
        </p:txBody>
      </p:sp>
      <p:sp>
        <p:nvSpPr>
          <p:cNvPr id="54" name="Text 45"/>
          <p:cNvSpPr/>
          <p:nvPr/>
        </p:nvSpPr>
        <p:spPr>
          <a:xfrm>
            <a:off x="1085850" y="12832705"/>
            <a:ext cx="3394519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43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OWNER · TELEFÓNICA UK</a:t>
            </a:r>
            <a:endParaRPr lang="en-US" sz="713" dirty="0"/>
          </a:p>
        </p:txBody>
      </p:sp>
      <p:sp>
        <p:nvSpPr>
          <p:cNvPr id="55" name="Shape 46"/>
          <p:cNvSpPr/>
          <p:nvPr/>
        </p:nvSpPr>
        <p:spPr>
          <a:xfrm>
            <a:off x="876300" y="17504569"/>
            <a:ext cx="3714750" cy="1316831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56" name="Text 47"/>
          <p:cNvSpPr/>
          <p:nvPr/>
        </p:nvSpPr>
        <p:spPr>
          <a:xfrm>
            <a:off x="1085850" y="17695069"/>
            <a:ext cx="1657350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BD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13" dirty="0"/>
          </a:p>
        </p:txBody>
      </p:sp>
      <p:sp>
        <p:nvSpPr>
          <p:cNvPr id="57" name="Text 48"/>
          <p:cNvSpPr/>
          <p:nvPr/>
        </p:nvSpPr>
        <p:spPr>
          <a:xfrm>
            <a:off x="1085850" y="17868900"/>
            <a:ext cx="1657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E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⚑ AVAIL · 2W NTC</a:t>
            </a:r>
            <a:endParaRPr lang="en-US" sz="825" dirty="0"/>
          </a:p>
        </p:txBody>
      </p:sp>
      <p:sp>
        <p:nvSpPr>
          <p:cNvPr id="58" name="Text 49"/>
          <p:cNvSpPr/>
          <p:nvPr/>
        </p:nvSpPr>
        <p:spPr>
          <a:xfrm>
            <a:off x="2800350" y="17695069"/>
            <a:ext cx="1657350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BDB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DATUM</a:t>
            </a:r>
            <a:endParaRPr lang="en-US" sz="713" dirty="0"/>
          </a:p>
        </p:txBody>
      </p:sp>
      <p:sp>
        <p:nvSpPr>
          <p:cNvPr id="59" name="Text 50"/>
          <p:cNvSpPr/>
          <p:nvPr/>
        </p:nvSpPr>
        <p:spPr>
          <a:xfrm>
            <a:off x="2800350" y="17868900"/>
            <a:ext cx="1657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3D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22.7196° N · 75.8577° E</a:t>
            </a:r>
            <a:endParaRPr lang="en-US" sz="825" dirty="0"/>
          </a:p>
        </p:txBody>
      </p:sp>
      <p:sp>
        <p:nvSpPr>
          <p:cNvPr id="60" name="Shape 51"/>
          <p:cNvSpPr/>
          <p:nvPr/>
        </p:nvSpPr>
        <p:spPr>
          <a:xfrm>
            <a:off x="1085850" y="18159413"/>
            <a:ext cx="3295650" cy="433388"/>
          </a:xfrm>
          <a:prstGeom prst="rect">
            <a:avLst/>
          </a:prstGeom>
          <a:solidFill>
            <a:srgbClr val="9EB02E"/>
          </a:solidFill>
          <a:ln/>
        </p:spPr>
      </p:sp>
      <p:sp>
        <p:nvSpPr>
          <p:cNvPr id="61" name="Text 52"/>
          <p:cNvSpPr/>
          <p:nvPr/>
        </p:nvSpPr>
        <p:spPr>
          <a:xfrm>
            <a:off x="1188815" y="18283238"/>
            <a:ext cx="308971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the next coordinate →</a:t>
            </a:r>
            <a:endParaRPr lang="en-US" sz="975" dirty="0"/>
          </a:p>
        </p:txBody>
      </p:sp>
      <p:sp>
        <p:nvSpPr>
          <p:cNvPr id="62" name="Shape 53"/>
          <p:cNvSpPr/>
          <p:nvPr/>
        </p:nvSpPr>
        <p:spPr>
          <a:xfrm>
            <a:off x="5581650" y="838200"/>
            <a:ext cx="1751335" cy="309563"/>
          </a:xfrm>
          <a:prstGeom prst="rect">
            <a:avLst/>
          </a:prstGeom>
          <a:solidFill>
            <a:srgbClr val="1A1F3A"/>
          </a:solidFill>
          <a:ln/>
        </p:spPr>
      </p:sp>
      <p:sp>
        <p:nvSpPr>
          <p:cNvPr id="63" name="Text 54"/>
          <p:cNvSpPr/>
          <p:nvPr/>
        </p:nvSpPr>
        <p:spPr>
          <a:xfrm>
            <a:off x="5695950" y="895350"/>
            <a:ext cx="159893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9E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04</a:t>
            </a:r>
            <a:endParaRPr lang="en-US" sz="1350" dirty="0"/>
          </a:p>
        </p:txBody>
      </p:sp>
      <p:sp>
        <p:nvSpPr>
          <p:cNvPr id="64" name="Text 55"/>
          <p:cNvSpPr/>
          <p:nvPr/>
        </p:nvSpPr>
        <p:spPr>
          <a:xfrm>
            <a:off x="7466335" y="895350"/>
            <a:ext cx="470509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TOBACCO · RUST · COBALT · CHARTREUSE</a:t>
            </a:r>
            <a:endParaRPr lang="en-US" sz="1350" dirty="0"/>
          </a:p>
        </p:txBody>
      </p:sp>
      <p:sp>
        <p:nvSpPr>
          <p:cNvPr id="65" name="Text 56"/>
          <p:cNvSpPr/>
          <p:nvPr/>
        </p:nvSpPr>
        <p:spPr>
          <a:xfrm>
            <a:off x="5581650" y="1414463"/>
            <a:ext cx="12302681" cy="205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spc="-203" kern="0" dirty="0">
                <a:solidFill>
                  <a:srgbClr val="1A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Survey.</a:t>
            </a:r>
            <a:endParaRPr lang="en-US" sz="8100" dirty="0"/>
          </a:p>
        </p:txBody>
      </p:sp>
      <p:sp>
        <p:nvSpPr>
          <p:cNvPr id="66" name="Text 57"/>
          <p:cNvSpPr/>
          <p:nvPr/>
        </p:nvSpPr>
        <p:spPr>
          <a:xfrm>
            <a:off x="5581650" y="3735437"/>
            <a:ext cx="902589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2C31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Fifteen years plotted as one USGS-style traverse. Sectoral lane bars, contour lines, scale bar, surveyor's flag at "NOW." Optimized for recruiters who skim — they see the whole career in five seconds.</a:t>
            </a:r>
            <a:endParaRPr lang="en-US" sz="1950" dirty="0"/>
          </a:p>
        </p:txBody>
      </p:sp>
      <p:sp>
        <p:nvSpPr>
          <p:cNvPr id="67" name="Text 58"/>
          <p:cNvSpPr/>
          <p:nvPr/>
        </p:nvSpPr>
        <p:spPr>
          <a:xfrm>
            <a:off x="5581650" y="5231681"/>
            <a:ext cx="1230268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</a:t>
            </a:r>
            <a:endParaRPr lang="en-US" sz="1350" dirty="0"/>
          </a:p>
        </p:txBody>
      </p:sp>
      <p:sp>
        <p:nvSpPr>
          <p:cNvPr id="68" name="Shape 59"/>
          <p:cNvSpPr/>
          <p:nvPr/>
        </p:nvSpPr>
        <p:spPr>
          <a:xfrm>
            <a:off x="55816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E3D3A5"/>
          </a:solidFill>
          <a:ln/>
        </p:spPr>
      </p:sp>
      <p:sp>
        <p:nvSpPr>
          <p:cNvPr id="69" name="Shape 60"/>
          <p:cNvSpPr/>
          <p:nvPr/>
        </p:nvSpPr>
        <p:spPr>
          <a:xfrm>
            <a:off x="62865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A1F3A"/>
          </a:solidFill>
          <a:ln/>
        </p:spPr>
      </p:sp>
      <p:sp>
        <p:nvSpPr>
          <p:cNvPr id="70" name="Shape 61"/>
          <p:cNvSpPr/>
          <p:nvPr/>
        </p:nvSpPr>
        <p:spPr>
          <a:xfrm>
            <a:off x="69913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A83218"/>
          </a:solidFill>
          <a:ln/>
        </p:spPr>
      </p:sp>
      <p:sp>
        <p:nvSpPr>
          <p:cNvPr id="71" name="Shape 62"/>
          <p:cNvSpPr/>
          <p:nvPr/>
        </p:nvSpPr>
        <p:spPr>
          <a:xfrm>
            <a:off x="76962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9EB02E"/>
          </a:solidFill>
          <a:ln/>
        </p:spPr>
      </p:sp>
      <p:sp>
        <p:nvSpPr>
          <p:cNvPr id="72" name="Shape 63"/>
          <p:cNvSpPr/>
          <p:nvPr/>
        </p:nvSpPr>
        <p:spPr>
          <a:xfrm>
            <a:off x="84010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B5A070"/>
          </a:solidFill>
          <a:ln/>
        </p:spPr>
      </p:sp>
      <p:sp>
        <p:nvSpPr>
          <p:cNvPr id="73" name="Shape 64"/>
          <p:cNvSpPr/>
          <p:nvPr/>
        </p:nvSpPr>
        <p:spPr>
          <a:xfrm>
            <a:off x="5581650" y="8858771"/>
            <a:ext cx="11944350" cy="9525"/>
          </a:xfrm>
          <a:prstGeom prst="rect">
            <a:avLst/>
          </a:prstGeom>
          <a:solidFill>
            <a:srgbClr val="B5A070"/>
          </a:solidFill>
          <a:ln/>
        </p:spPr>
      </p:sp>
      <p:sp>
        <p:nvSpPr>
          <p:cNvPr id="74" name="Text 65"/>
          <p:cNvSpPr/>
          <p:nvPr/>
        </p:nvSpPr>
        <p:spPr>
          <a:xfrm>
            <a:off x="5581650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SOLVES FINDINGS</a:t>
            </a:r>
            <a:endParaRPr lang="en-US" sz="1050" dirty="0"/>
          </a:p>
        </p:txBody>
      </p:sp>
      <p:sp>
        <p:nvSpPr>
          <p:cNvPr id="75" name="Text 66"/>
          <p:cNvSpPr/>
          <p:nvPr/>
        </p:nvSpPr>
        <p:spPr>
          <a:xfrm>
            <a:off x="5581650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05 · 06</a:t>
            </a:r>
            <a:endParaRPr lang="en-US" sz="1425" dirty="0"/>
          </a:p>
        </p:txBody>
      </p:sp>
      <p:sp>
        <p:nvSpPr>
          <p:cNvPr id="76" name="Text 67"/>
          <p:cNvSpPr/>
          <p:nvPr/>
        </p:nvSpPr>
        <p:spPr>
          <a:xfrm>
            <a:off x="11706225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A5C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AS</a:t>
            </a:r>
            <a:endParaRPr lang="en-US" sz="1050" dirty="0"/>
          </a:p>
        </p:txBody>
      </p:sp>
      <p:sp>
        <p:nvSpPr>
          <p:cNvPr id="77" name="Text 68"/>
          <p:cNvSpPr/>
          <p:nvPr/>
        </p:nvSpPr>
        <p:spPr>
          <a:xfrm>
            <a:off x="11706225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1A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/career · resume route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4133850" cy="7848600"/>
          </a:xfrm>
          <a:prstGeom prst="roundRect">
            <a:avLst>
              <a:gd name="adj" fmla="val 10138"/>
            </a:avLst>
          </a:prstGeom>
          <a:solidFill>
            <a:srgbClr val="1A1A17"/>
          </a:solidFill>
          <a:ln/>
          <a:effectLst>
            <a:outerShdw sx="100000" sy="100000" kx="0" ky="0" algn="bl" rotWithShape="0" blurRad="857250" dist="476250" dir="5400000">
              <a:srgbClr val="000000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76300" y="723900"/>
            <a:ext cx="3714750" cy="20574000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4" name="Shape 2"/>
          <p:cNvSpPr/>
          <p:nvPr/>
        </p:nvSpPr>
        <p:spPr>
          <a:xfrm>
            <a:off x="876300" y="723900"/>
            <a:ext cx="3714750" cy="13335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5" name="Shape 3"/>
          <p:cNvSpPr/>
          <p:nvPr/>
        </p:nvSpPr>
        <p:spPr>
          <a:xfrm>
            <a:off x="876300" y="1407319"/>
            <a:ext cx="3714750" cy="952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990600"/>
            <a:ext cx="1640086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86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AM-7 · REV. 2026.05</a:t>
            </a:r>
            <a:endParaRPr lang="en-US" sz="713" dirty="0"/>
          </a:p>
        </p:txBody>
      </p:sp>
      <p:sp>
        <p:nvSpPr>
          <p:cNvPr id="7" name="Text 5"/>
          <p:cNvSpPr/>
          <p:nvPr/>
        </p:nvSpPr>
        <p:spPr>
          <a:xfrm>
            <a:off x="1066800" y="1154906"/>
            <a:ext cx="164008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33" kern="0" dirty="0">
                <a:solidFill>
                  <a:srgbClr val="D9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RISK REGISTER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544193" y="995363"/>
            <a:ext cx="85635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OFFICER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544193" y="1123950"/>
            <a:ext cx="85635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MAHESHWARI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1066800" y="1626394"/>
            <a:ext cx="34337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86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1.0 — SCOPE</a:t>
            </a:r>
            <a:endParaRPr lang="en-US" sz="713" dirty="0"/>
          </a:p>
        </p:txBody>
      </p:sp>
      <p:sp>
        <p:nvSpPr>
          <p:cNvPr id="11" name="Text 9"/>
          <p:cNvSpPr/>
          <p:nvPr/>
        </p:nvSpPr>
        <p:spPr>
          <a:xfrm>
            <a:off x="1066800" y="1876425"/>
            <a:ext cx="3433763" cy="902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spc="-52" kern="0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register of the failures I've already paid for, so </a:t>
            </a:r>
            <a:pPr algn="l" indent="0" marL="0">
              <a:lnSpc>
                <a:spcPct val="108000"/>
              </a:lnSpc>
              <a:buNone/>
            </a:pPr>
            <a:r>
              <a:rPr lang="en-US" sz="2100" b="1" spc="-52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have to.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66800" y="2835622"/>
            <a:ext cx="3433763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B0A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hazards specific to intelligent products. Each priced from a deployed system, mitigated with a pattern, attested by peer. Open for inspection.</a:t>
            </a:r>
            <a:endParaRPr lang="en-US" sz="938" dirty="0"/>
          </a:p>
        </p:txBody>
      </p:sp>
      <p:sp>
        <p:nvSpPr>
          <p:cNvPr id="13" name="Shape 11"/>
          <p:cNvSpPr/>
          <p:nvPr/>
        </p:nvSpPr>
        <p:spPr>
          <a:xfrm>
            <a:off x="1066800" y="3541663"/>
            <a:ext cx="3333750" cy="500063"/>
          </a:xfrm>
          <a:prstGeom prst="rect">
            <a:avLst/>
          </a:prstGeom>
          <a:solidFill>
            <a:srgbClr val="26292D"/>
          </a:solidFill>
          <a:ln w="9525">
            <a:solidFill>
              <a:srgbClr val="6C70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0625" y="3646438"/>
            <a:ext cx="8048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spc="36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190625" y="3779788"/>
            <a:ext cx="80486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D9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2W NTC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1976438" y="3646438"/>
            <a:ext cx="9525" cy="290513"/>
          </a:xfrm>
          <a:prstGeom prst="rect">
            <a:avLst/>
          </a:prstGeom>
          <a:solidFill>
            <a:srgbClr val="6C7077"/>
          </a:solidFill>
          <a:ln/>
        </p:spPr>
      </p:sp>
      <p:sp>
        <p:nvSpPr>
          <p:cNvPr id="17" name="Text 15"/>
          <p:cNvSpPr/>
          <p:nvPr/>
        </p:nvSpPr>
        <p:spPr>
          <a:xfrm>
            <a:off x="2062163" y="3646438"/>
            <a:ext cx="7191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spc="36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062163" y="3779788"/>
            <a:ext cx="7191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D9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2762250" y="3646438"/>
            <a:ext cx="9525" cy="290513"/>
          </a:xfrm>
          <a:prstGeom prst="rect">
            <a:avLst/>
          </a:prstGeom>
          <a:solidFill>
            <a:srgbClr val="6C7077"/>
          </a:solidFill>
          <a:ln/>
        </p:spPr>
      </p:sp>
      <p:sp>
        <p:nvSpPr>
          <p:cNvPr id="20" name="Text 18"/>
          <p:cNvSpPr/>
          <p:nvPr/>
        </p:nvSpPr>
        <p:spPr>
          <a:xfrm>
            <a:off x="2847975" y="3646438"/>
            <a:ext cx="7191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spc="36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847975" y="3779788"/>
            <a:ext cx="7191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D9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YR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3548063" y="3646438"/>
            <a:ext cx="9525" cy="290513"/>
          </a:xfrm>
          <a:prstGeom prst="rect">
            <a:avLst/>
          </a:prstGeom>
          <a:solidFill>
            <a:srgbClr val="6C7077"/>
          </a:solidFill>
          <a:ln/>
        </p:spPr>
      </p:sp>
      <p:sp>
        <p:nvSpPr>
          <p:cNvPr id="23" name="Text 21"/>
          <p:cNvSpPr/>
          <p:nvPr/>
        </p:nvSpPr>
        <p:spPr>
          <a:xfrm>
            <a:off x="3633788" y="3646438"/>
            <a:ext cx="7191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spc="36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633788" y="3779788"/>
            <a:ext cx="71913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dirty="0">
                <a:solidFill>
                  <a:srgbClr val="7DFC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ACTIVE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066800" y="4251275"/>
            <a:ext cx="1314301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86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2.0 — RISK MATRIX</a:t>
            </a:r>
            <a:endParaRPr lang="en-US" sz="713" dirty="0"/>
          </a:p>
        </p:txBody>
      </p:sp>
      <p:sp>
        <p:nvSpPr>
          <p:cNvPr id="26" name="Text 24"/>
          <p:cNvSpPr/>
          <p:nvPr/>
        </p:nvSpPr>
        <p:spPr>
          <a:xfrm>
            <a:off x="3886051" y="4256038"/>
            <a:ext cx="59069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n=6 priced</a:t>
            </a:r>
            <a:endParaRPr lang="en-US" sz="675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4463207"/>
            <a:ext cx="3333750" cy="2286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66800" y="7015907"/>
            <a:ext cx="34337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86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3.0 — REGISTER · MITIGATIONS SHIPPED</a:t>
            </a:r>
            <a:endParaRPr lang="en-US" sz="713" dirty="0"/>
          </a:p>
        </p:txBody>
      </p:sp>
      <p:sp>
        <p:nvSpPr>
          <p:cNvPr id="29" name="Shape 26"/>
          <p:cNvSpPr/>
          <p:nvPr/>
        </p:nvSpPr>
        <p:spPr>
          <a:xfrm>
            <a:off x="1066800" y="7246888"/>
            <a:ext cx="3333750" cy="9103519"/>
          </a:xfrm>
          <a:prstGeom prst="rect">
            <a:avLst/>
          </a:prstGeom>
          <a:solidFill>
            <a:srgbClr val="23262A"/>
          </a:solidFill>
          <a:ln w="9525">
            <a:solidFill>
              <a:srgbClr val="6C707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76325" y="7256413"/>
            <a:ext cx="3314700" cy="271463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31" name="Shape 28"/>
          <p:cNvSpPr/>
          <p:nvPr/>
        </p:nvSpPr>
        <p:spPr>
          <a:xfrm>
            <a:off x="1076325" y="7518350"/>
            <a:ext cx="3314700" cy="9525"/>
          </a:xfrm>
          <a:prstGeom prst="rect">
            <a:avLst/>
          </a:prstGeom>
          <a:solidFill>
            <a:srgbClr val="6C7077"/>
          </a:solidFill>
          <a:ln/>
        </p:spPr>
      </p:sp>
      <p:sp>
        <p:nvSpPr>
          <p:cNvPr id="32" name="Text 29"/>
          <p:cNvSpPr/>
          <p:nvPr/>
        </p:nvSpPr>
        <p:spPr>
          <a:xfrm>
            <a:off x="1171575" y="7323088"/>
            <a:ext cx="5334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D9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1628775" y="7323088"/>
            <a:ext cx="23812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D9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HAZARD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3857625" y="7323088"/>
            <a:ext cx="438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D9D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1171575" y="76469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dirty="0">
                <a:solidFill>
                  <a:srgbClr val="FF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R-01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628775" y="7623125"/>
            <a:ext cx="23812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b="1" spc="-5" kern="0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 CONFIDENCE</a:t>
            </a:r>
            <a:endParaRPr lang="en-US" sz="938" dirty="0"/>
          </a:p>
        </p:txBody>
      </p:sp>
      <p:sp>
        <p:nvSpPr>
          <p:cNvPr id="37" name="Text 34"/>
          <p:cNvSpPr/>
          <p:nvPr/>
        </p:nvSpPr>
        <p:spPr>
          <a:xfrm>
            <a:off x="3857625" y="7656463"/>
            <a:ext cx="438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b="1" spc="27" kern="0" dirty="0">
                <a:solidFill>
                  <a:srgbClr val="FF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1171575" y="7858869"/>
            <a:ext cx="3217926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8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reports a score the model has not earned.</a:t>
            </a:r>
            <a:endParaRPr lang="en-US" sz="863" dirty="0"/>
          </a:p>
        </p:txBody>
      </p:sp>
      <p:sp>
        <p:nvSpPr>
          <p:cNvPr id="39" name="Shape 36"/>
          <p:cNvSpPr/>
          <p:nvPr/>
        </p:nvSpPr>
        <p:spPr>
          <a:xfrm>
            <a:off x="1171575" y="8080325"/>
            <a:ext cx="3124200" cy="676275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40" name="Shape 37"/>
          <p:cNvSpPr/>
          <p:nvPr/>
        </p:nvSpPr>
        <p:spPr>
          <a:xfrm>
            <a:off x="1171575" y="8080325"/>
            <a:ext cx="19050" cy="676275"/>
          </a:xfrm>
          <a:prstGeom prst="rect">
            <a:avLst/>
          </a:prstGeom>
          <a:solidFill>
            <a:srgbClr val="3AA9FF"/>
          </a:solidFill>
          <a:ln/>
        </p:spPr>
      </p:sp>
      <p:sp>
        <p:nvSpPr>
          <p:cNvPr id="41" name="Text 38"/>
          <p:cNvSpPr/>
          <p:nvPr/>
        </p:nvSpPr>
        <p:spPr>
          <a:xfrm>
            <a:off x="1285875" y="8204150"/>
            <a:ext cx="8686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MITIGATED ·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1285875" y="8175575"/>
            <a:ext cx="2854545" cy="34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strip. Confidence band tied to sample size &amp; freshness; warns when both are low.</a:t>
            </a:r>
            <a:endParaRPr lang="en-US" sz="863" dirty="0"/>
          </a:p>
        </p:txBody>
      </p:sp>
      <p:sp>
        <p:nvSpPr>
          <p:cNvPr id="43" name="Text 40"/>
          <p:cNvSpPr/>
          <p:nvPr/>
        </p:nvSpPr>
        <p:spPr>
          <a:xfrm>
            <a:off x="1285875" y="8551813"/>
            <a:ext cx="300209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shipped:pe-screening</a:t>
            </a:r>
            <a:endParaRPr lang="en-US" sz="675" dirty="0"/>
          </a:p>
        </p:txBody>
      </p:sp>
      <p:sp>
        <p:nvSpPr>
          <p:cNvPr id="44" name="Shape 41"/>
          <p:cNvSpPr/>
          <p:nvPr/>
        </p:nvSpPr>
        <p:spPr>
          <a:xfrm>
            <a:off x="1076325" y="8851850"/>
            <a:ext cx="3314700" cy="9525"/>
          </a:xfrm>
          <a:prstGeom prst="rect">
            <a:avLst/>
          </a:prstGeom>
          <a:solidFill>
            <a:srgbClr val="2E3137"/>
          </a:solidFill>
          <a:ln/>
        </p:spPr>
      </p:sp>
      <p:sp>
        <p:nvSpPr>
          <p:cNvPr id="45" name="Text 42"/>
          <p:cNvSpPr/>
          <p:nvPr/>
        </p:nvSpPr>
        <p:spPr>
          <a:xfrm>
            <a:off x="1171575" y="89804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R-02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1628775" y="8956625"/>
            <a:ext cx="23812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b="1" spc="-5" kern="0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ANCHORING ON FIRST OUTPUT</a:t>
            </a:r>
            <a:endParaRPr lang="en-US" sz="938" dirty="0"/>
          </a:p>
        </p:txBody>
      </p:sp>
      <p:sp>
        <p:nvSpPr>
          <p:cNvPr id="47" name="Text 44"/>
          <p:cNvSpPr/>
          <p:nvPr/>
        </p:nvSpPr>
        <p:spPr>
          <a:xfrm>
            <a:off x="3857625" y="8989963"/>
            <a:ext cx="438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b="1" spc="27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675" dirty="0"/>
          </a:p>
        </p:txBody>
      </p:sp>
      <p:sp>
        <p:nvSpPr>
          <p:cNvPr id="48" name="Text 45"/>
          <p:cNvSpPr/>
          <p:nvPr/>
        </p:nvSpPr>
        <p:spPr>
          <a:xfrm>
            <a:off x="1171575" y="9192369"/>
            <a:ext cx="321792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8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defers to whatever the model returned first, regardless of quality.</a:t>
            </a:r>
            <a:endParaRPr lang="en-US" sz="863" dirty="0"/>
          </a:p>
        </p:txBody>
      </p:sp>
      <p:sp>
        <p:nvSpPr>
          <p:cNvPr id="49" name="Shape 46"/>
          <p:cNvSpPr/>
          <p:nvPr/>
        </p:nvSpPr>
        <p:spPr>
          <a:xfrm>
            <a:off x="1171575" y="9578132"/>
            <a:ext cx="3124200" cy="676275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50" name="Shape 47"/>
          <p:cNvSpPr/>
          <p:nvPr/>
        </p:nvSpPr>
        <p:spPr>
          <a:xfrm>
            <a:off x="1171575" y="9578132"/>
            <a:ext cx="19050" cy="676275"/>
          </a:xfrm>
          <a:prstGeom prst="rect">
            <a:avLst/>
          </a:prstGeom>
          <a:solidFill>
            <a:srgbClr val="3AA9FF"/>
          </a:solidFill>
          <a:ln/>
        </p:spPr>
      </p:sp>
      <p:sp>
        <p:nvSpPr>
          <p:cNvPr id="51" name="Text 48"/>
          <p:cNvSpPr/>
          <p:nvPr/>
        </p:nvSpPr>
        <p:spPr>
          <a:xfrm>
            <a:off x="1285875" y="9701957"/>
            <a:ext cx="8686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MITIGATED ·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1285875" y="9673382"/>
            <a:ext cx="2946521" cy="34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confirm. Threshold gate before final action when confidence is low.</a:t>
            </a:r>
            <a:endParaRPr lang="en-US" sz="863" dirty="0"/>
          </a:p>
        </p:txBody>
      </p:sp>
      <p:sp>
        <p:nvSpPr>
          <p:cNvPr id="53" name="Text 50"/>
          <p:cNvSpPr/>
          <p:nvPr/>
        </p:nvSpPr>
        <p:spPr>
          <a:xfrm>
            <a:off x="1285875" y="10049619"/>
            <a:ext cx="300209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shipped:adtech-ml</a:t>
            </a:r>
            <a:endParaRPr lang="en-US" sz="675" dirty="0"/>
          </a:p>
        </p:txBody>
      </p:sp>
      <p:sp>
        <p:nvSpPr>
          <p:cNvPr id="54" name="Shape 51"/>
          <p:cNvSpPr/>
          <p:nvPr/>
        </p:nvSpPr>
        <p:spPr>
          <a:xfrm>
            <a:off x="1076325" y="10349657"/>
            <a:ext cx="3314700" cy="9525"/>
          </a:xfrm>
          <a:prstGeom prst="rect">
            <a:avLst/>
          </a:prstGeom>
          <a:solidFill>
            <a:srgbClr val="2E3137"/>
          </a:solidFill>
          <a:ln/>
        </p:spPr>
      </p:sp>
      <p:sp>
        <p:nvSpPr>
          <p:cNvPr id="55" name="Text 52"/>
          <p:cNvSpPr/>
          <p:nvPr/>
        </p:nvSpPr>
        <p:spPr>
          <a:xfrm>
            <a:off x="1171575" y="10478244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R-03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1628775" y="10454432"/>
            <a:ext cx="23812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b="1" spc="-5" kern="0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WEIGHT DRIFT</a:t>
            </a:r>
            <a:endParaRPr lang="en-US" sz="938" dirty="0"/>
          </a:p>
        </p:txBody>
      </p:sp>
      <p:sp>
        <p:nvSpPr>
          <p:cNvPr id="57" name="Text 54"/>
          <p:cNvSpPr/>
          <p:nvPr/>
        </p:nvSpPr>
        <p:spPr>
          <a:xfrm>
            <a:off x="3857625" y="10487769"/>
            <a:ext cx="438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b="1" spc="27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675" dirty="0"/>
          </a:p>
        </p:txBody>
      </p:sp>
      <p:sp>
        <p:nvSpPr>
          <p:cNvPr id="58" name="Text 55"/>
          <p:cNvSpPr/>
          <p:nvPr/>
        </p:nvSpPr>
        <p:spPr>
          <a:xfrm>
            <a:off x="1171575" y="10690175"/>
            <a:ext cx="321792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8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still serving prediction long after the world it was trained on stopped existing.</a:t>
            </a:r>
            <a:endParaRPr lang="en-US" sz="863" dirty="0"/>
          </a:p>
        </p:txBody>
      </p:sp>
      <p:sp>
        <p:nvSpPr>
          <p:cNvPr id="59" name="Shape 56"/>
          <p:cNvSpPr/>
          <p:nvPr/>
        </p:nvSpPr>
        <p:spPr>
          <a:xfrm>
            <a:off x="1171575" y="11075938"/>
            <a:ext cx="3124200" cy="676275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60" name="Shape 57"/>
          <p:cNvSpPr/>
          <p:nvPr/>
        </p:nvSpPr>
        <p:spPr>
          <a:xfrm>
            <a:off x="1171575" y="11075938"/>
            <a:ext cx="19050" cy="676275"/>
          </a:xfrm>
          <a:prstGeom prst="rect">
            <a:avLst/>
          </a:prstGeom>
          <a:solidFill>
            <a:srgbClr val="3AA9FF"/>
          </a:solidFill>
          <a:ln/>
        </p:spPr>
      </p:sp>
      <p:sp>
        <p:nvSpPr>
          <p:cNvPr id="61" name="Text 58"/>
          <p:cNvSpPr/>
          <p:nvPr/>
        </p:nvSpPr>
        <p:spPr>
          <a:xfrm>
            <a:off x="1285875" y="11199763"/>
            <a:ext cx="8686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MITIGATED ·</a:t>
            </a:r>
            <a:endParaRPr lang="en-US" sz="675" dirty="0"/>
          </a:p>
        </p:txBody>
      </p:sp>
      <p:sp>
        <p:nvSpPr>
          <p:cNvPr id="62" name="Text 59"/>
          <p:cNvSpPr/>
          <p:nvPr/>
        </p:nvSpPr>
        <p:spPr>
          <a:xfrm>
            <a:off x="1285875" y="11171188"/>
            <a:ext cx="2790469" cy="34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Last-trained chip + freshness chrome. Forces visible expiry on every recommendation surface.</a:t>
            </a:r>
            <a:endParaRPr lang="en-US" sz="863" dirty="0"/>
          </a:p>
        </p:txBody>
      </p:sp>
      <p:sp>
        <p:nvSpPr>
          <p:cNvPr id="63" name="Text 60"/>
          <p:cNvSpPr/>
          <p:nvPr/>
        </p:nvSpPr>
        <p:spPr>
          <a:xfrm>
            <a:off x="1285875" y="11547425"/>
            <a:ext cx="300209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shipped:patterns-lib</a:t>
            </a:r>
            <a:endParaRPr lang="en-US" sz="675" dirty="0"/>
          </a:p>
        </p:txBody>
      </p:sp>
      <p:sp>
        <p:nvSpPr>
          <p:cNvPr id="64" name="Shape 61"/>
          <p:cNvSpPr/>
          <p:nvPr/>
        </p:nvSpPr>
        <p:spPr>
          <a:xfrm>
            <a:off x="1076325" y="11847463"/>
            <a:ext cx="3314700" cy="9525"/>
          </a:xfrm>
          <a:prstGeom prst="rect">
            <a:avLst/>
          </a:prstGeom>
          <a:solidFill>
            <a:srgbClr val="2E3137"/>
          </a:solidFill>
          <a:ln/>
        </p:spPr>
      </p:sp>
      <p:sp>
        <p:nvSpPr>
          <p:cNvPr id="65" name="Text 62"/>
          <p:cNvSpPr/>
          <p:nvPr/>
        </p:nvSpPr>
        <p:spPr>
          <a:xfrm>
            <a:off x="1171575" y="11976050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dirty="0">
                <a:solidFill>
                  <a:srgbClr val="FF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R-04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1628775" y="11952238"/>
            <a:ext cx="23812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b="1" spc="-5" kern="0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REJECTION</a:t>
            </a:r>
            <a:endParaRPr lang="en-US" sz="938" dirty="0"/>
          </a:p>
        </p:txBody>
      </p:sp>
      <p:sp>
        <p:nvSpPr>
          <p:cNvPr id="67" name="Text 64"/>
          <p:cNvSpPr/>
          <p:nvPr/>
        </p:nvSpPr>
        <p:spPr>
          <a:xfrm>
            <a:off x="3857625" y="11985575"/>
            <a:ext cx="438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b="1" spc="27" kern="0" dirty="0">
                <a:solidFill>
                  <a:srgbClr val="FF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</a:t>
            </a:r>
            <a:endParaRPr lang="en-US" sz="675" dirty="0"/>
          </a:p>
        </p:txBody>
      </p:sp>
      <p:sp>
        <p:nvSpPr>
          <p:cNvPr id="68" name="Text 65"/>
          <p:cNvSpPr/>
          <p:nvPr/>
        </p:nvSpPr>
        <p:spPr>
          <a:xfrm>
            <a:off x="1171575" y="12187982"/>
            <a:ext cx="321792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8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cannot interrogate why the algorithm ranked X over Y. So they ignore the algorithm.</a:t>
            </a:r>
            <a:endParaRPr lang="en-US" sz="863" dirty="0"/>
          </a:p>
        </p:txBody>
      </p:sp>
      <p:sp>
        <p:nvSpPr>
          <p:cNvPr id="69" name="Shape 66"/>
          <p:cNvSpPr/>
          <p:nvPr/>
        </p:nvSpPr>
        <p:spPr>
          <a:xfrm>
            <a:off x="1171575" y="12573744"/>
            <a:ext cx="3124200" cy="676275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70" name="Shape 67"/>
          <p:cNvSpPr/>
          <p:nvPr/>
        </p:nvSpPr>
        <p:spPr>
          <a:xfrm>
            <a:off x="1171575" y="12573744"/>
            <a:ext cx="19050" cy="676275"/>
          </a:xfrm>
          <a:prstGeom prst="rect">
            <a:avLst/>
          </a:prstGeom>
          <a:solidFill>
            <a:srgbClr val="3AA9FF"/>
          </a:solidFill>
          <a:ln/>
        </p:spPr>
      </p:sp>
      <p:sp>
        <p:nvSpPr>
          <p:cNvPr id="71" name="Text 68"/>
          <p:cNvSpPr/>
          <p:nvPr/>
        </p:nvSpPr>
        <p:spPr>
          <a:xfrm>
            <a:off x="1285875" y="12697569"/>
            <a:ext cx="8686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MITIGATED ·</a:t>
            </a:r>
            <a:endParaRPr lang="en-US" sz="675" dirty="0"/>
          </a:p>
        </p:txBody>
      </p:sp>
      <p:sp>
        <p:nvSpPr>
          <p:cNvPr id="72" name="Text 69"/>
          <p:cNvSpPr/>
          <p:nvPr/>
        </p:nvSpPr>
        <p:spPr>
          <a:xfrm>
            <a:off x="1285875" y="12668994"/>
            <a:ext cx="2854162" cy="34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Why-card explainability drawer. Sources, weights, "one fact that would flip this".</a:t>
            </a:r>
            <a:endParaRPr lang="en-US" sz="863" dirty="0"/>
          </a:p>
        </p:txBody>
      </p:sp>
      <p:sp>
        <p:nvSpPr>
          <p:cNvPr id="73" name="Text 70"/>
          <p:cNvSpPr/>
          <p:nvPr/>
        </p:nvSpPr>
        <p:spPr>
          <a:xfrm>
            <a:off x="1285875" y="13045232"/>
            <a:ext cx="300209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shipped:pe-screening</a:t>
            </a:r>
            <a:endParaRPr lang="en-US" sz="675" dirty="0"/>
          </a:p>
        </p:txBody>
      </p:sp>
      <p:sp>
        <p:nvSpPr>
          <p:cNvPr id="74" name="Shape 71"/>
          <p:cNvSpPr/>
          <p:nvPr/>
        </p:nvSpPr>
        <p:spPr>
          <a:xfrm>
            <a:off x="1076325" y="13345269"/>
            <a:ext cx="3314700" cy="9525"/>
          </a:xfrm>
          <a:prstGeom prst="rect">
            <a:avLst/>
          </a:prstGeom>
          <a:solidFill>
            <a:srgbClr val="2E3137"/>
          </a:solidFill>
          <a:ln/>
        </p:spPr>
      </p:sp>
      <p:sp>
        <p:nvSpPr>
          <p:cNvPr id="75" name="Text 72"/>
          <p:cNvSpPr/>
          <p:nvPr/>
        </p:nvSpPr>
        <p:spPr>
          <a:xfrm>
            <a:off x="1171575" y="13473857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dirty="0">
                <a:solidFill>
                  <a:srgbClr val="FF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R-05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1628775" y="13450044"/>
            <a:ext cx="23812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b="1" spc="-5" kern="0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RETROFIT</a:t>
            </a:r>
            <a:endParaRPr lang="en-US" sz="938" dirty="0"/>
          </a:p>
        </p:txBody>
      </p:sp>
      <p:sp>
        <p:nvSpPr>
          <p:cNvPr id="77" name="Text 74"/>
          <p:cNvSpPr/>
          <p:nvPr/>
        </p:nvSpPr>
        <p:spPr>
          <a:xfrm>
            <a:off x="3857625" y="13483382"/>
            <a:ext cx="438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b="1" spc="27" kern="0" dirty="0">
                <a:solidFill>
                  <a:srgbClr val="FF5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675" dirty="0"/>
          </a:p>
        </p:txBody>
      </p:sp>
      <p:sp>
        <p:nvSpPr>
          <p:cNvPr id="78" name="Text 75"/>
          <p:cNvSpPr/>
          <p:nvPr/>
        </p:nvSpPr>
        <p:spPr>
          <a:xfrm>
            <a:off x="1171575" y="13685788"/>
            <a:ext cx="321792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8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WCAG-AA backlogged to sprint 8. Discovers at audit that 35% of UI is unreachable.</a:t>
            </a:r>
            <a:endParaRPr lang="en-US" sz="863" dirty="0"/>
          </a:p>
        </p:txBody>
      </p:sp>
      <p:sp>
        <p:nvSpPr>
          <p:cNvPr id="79" name="Shape 76"/>
          <p:cNvSpPr/>
          <p:nvPr/>
        </p:nvSpPr>
        <p:spPr>
          <a:xfrm>
            <a:off x="1171575" y="14071550"/>
            <a:ext cx="3124200" cy="676275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80" name="Shape 77"/>
          <p:cNvSpPr/>
          <p:nvPr/>
        </p:nvSpPr>
        <p:spPr>
          <a:xfrm>
            <a:off x="1171575" y="14071550"/>
            <a:ext cx="19050" cy="676275"/>
          </a:xfrm>
          <a:prstGeom prst="rect">
            <a:avLst/>
          </a:prstGeom>
          <a:solidFill>
            <a:srgbClr val="3AA9FF"/>
          </a:solidFill>
          <a:ln/>
        </p:spPr>
      </p:sp>
      <p:sp>
        <p:nvSpPr>
          <p:cNvPr id="81" name="Text 78"/>
          <p:cNvSpPr/>
          <p:nvPr/>
        </p:nvSpPr>
        <p:spPr>
          <a:xfrm>
            <a:off x="1285875" y="14195375"/>
            <a:ext cx="8686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MITIGATED ·</a:t>
            </a:r>
            <a:endParaRPr lang="en-US" sz="675" dirty="0"/>
          </a:p>
        </p:txBody>
      </p:sp>
      <p:sp>
        <p:nvSpPr>
          <p:cNvPr id="82" name="Text 79"/>
          <p:cNvSpPr/>
          <p:nvPr/>
        </p:nvSpPr>
        <p:spPr>
          <a:xfrm>
            <a:off x="1285875" y="14166800"/>
            <a:ext cx="2765405" cy="34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Sprint-one patterns. Screen reader, keyboard, contrast, locale — constraints on first sketch.</a:t>
            </a:r>
            <a:endParaRPr lang="en-US" sz="863" dirty="0"/>
          </a:p>
        </p:txBody>
      </p:sp>
      <p:sp>
        <p:nvSpPr>
          <p:cNvPr id="83" name="Text 80"/>
          <p:cNvSpPr/>
          <p:nvPr/>
        </p:nvSpPr>
        <p:spPr>
          <a:xfrm>
            <a:off x="1285875" y="14543038"/>
            <a:ext cx="300209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shipped:ptc-11-locale</a:t>
            </a:r>
            <a:endParaRPr lang="en-US" sz="675" dirty="0"/>
          </a:p>
        </p:txBody>
      </p:sp>
      <p:sp>
        <p:nvSpPr>
          <p:cNvPr id="84" name="Shape 81"/>
          <p:cNvSpPr/>
          <p:nvPr/>
        </p:nvSpPr>
        <p:spPr>
          <a:xfrm>
            <a:off x="1076325" y="14843075"/>
            <a:ext cx="3314700" cy="9525"/>
          </a:xfrm>
          <a:prstGeom prst="rect">
            <a:avLst/>
          </a:prstGeom>
          <a:solidFill>
            <a:srgbClr val="2E3137"/>
          </a:solidFill>
          <a:ln/>
        </p:spPr>
      </p:sp>
      <p:sp>
        <p:nvSpPr>
          <p:cNvPr id="85" name="Text 82"/>
          <p:cNvSpPr/>
          <p:nvPr/>
        </p:nvSpPr>
        <p:spPr>
          <a:xfrm>
            <a:off x="1171575" y="14971663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R-06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1628775" y="14947850"/>
            <a:ext cx="23812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b="1" spc="-5" kern="0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COLLAPSE</a:t>
            </a:r>
            <a:endParaRPr lang="en-US" sz="938" dirty="0"/>
          </a:p>
        </p:txBody>
      </p:sp>
      <p:sp>
        <p:nvSpPr>
          <p:cNvPr id="87" name="Text 84"/>
          <p:cNvSpPr/>
          <p:nvPr/>
        </p:nvSpPr>
        <p:spPr>
          <a:xfrm>
            <a:off x="3857625" y="14981188"/>
            <a:ext cx="438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675" b="1" spc="27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</a:t>
            </a:r>
            <a:endParaRPr lang="en-US" sz="675" dirty="0"/>
          </a:p>
        </p:txBody>
      </p:sp>
      <p:sp>
        <p:nvSpPr>
          <p:cNvPr id="88" name="Text 85"/>
          <p:cNvSpPr/>
          <p:nvPr/>
        </p:nvSpPr>
        <p:spPr>
          <a:xfrm>
            <a:off x="1171575" y="15183594"/>
            <a:ext cx="321792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8A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visible failure resets the team's relationship with the model.</a:t>
            </a:r>
            <a:endParaRPr lang="en-US" sz="863" dirty="0"/>
          </a:p>
        </p:txBody>
      </p:sp>
      <p:sp>
        <p:nvSpPr>
          <p:cNvPr id="89" name="Shape 86"/>
          <p:cNvSpPr/>
          <p:nvPr/>
        </p:nvSpPr>
        <p:spPr>
          <a:xfrm>
            <a:off x="1171575" y="15569357"/>
            <a:ext cx="3124200" cy="676275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90" name="Shape 87"/>
          <p:cNvSpPr/>
          <p:nvPr/>
        </p:nvSpPr>
        <p:spPr>
          <a:xfrm>
            <a:off x="1171575" y="15569357"/>
            <a:ext cx="19050" cy="676275"/>
          </a:xfrm>
          <a:prstGeom prst="rect">
            <a:avLst/>
          </a:prstGeom>
          <a:solidFill>
            <a:srgbClr val="3AA9FF"/>
          </a:solidFill>
          <a:ln/>
        </p:spPr>
      </p:sp>
      <p:sp>
        <p:nvSpPr>
          <p:cNvPr id="91" name="Text 88"/>
          <p:cNvSpPr/>
          <p:nvPr/>
        </p:nvSpPr>
        <p:spPr>
          <a:xfrm>
            <a:off x="1285875" y="15693182"/>
            <a:ext cx="86863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MITIGATED ·</a:t>
            </a:r>
            <a:endParaRPr lang="en-US" sz="675" dirty="0"/>
          </a:p>
        </p:txBody>
      </p:sp>
      <p:sp>
        <p:nvSpPr>
          <p:cNvPr id="92" name="Text 89"/>
          <p:cNvSpPr/>
          <p:nvPr/>
        </p:nvSpPr>
        <p:spPr>
          <a:xfrm>
            <a:off x="1285875" y="15664607"/>
            <a:ext cx="2916015" cy="340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63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fallback + edit history. The model can be wrong; it cannot be unaccountable.</a:t>
            </a:r>
            <a:endParaRPr lang="en-US" sz="863" dirty="0"/>
          </a:p>
        </p:txBody>
      </p:sp>
      <p:sp>
        <p:nvSpPr>
          <p:cNvPr id="93" name="Text 90"/>
          <p:cNvSpPr/>
          <p:nvPr/>
        </p:nvSpPr>
        <p:spPr>
          <a:xfrm>
            <a:off x="1285875" y="16040844"/>
            <a:ext cx="300209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shipped:o2-priority</a:t>
            </a:r>
            <a:endParaRPr lang="en-US" sz="675" dirty="0"/>
          </a:p>
        </p:txBody>
      </p:sp>
      <p:sp>
        <p:nvSpPr>
          <p:cNvPr id="94" name="Text 91"/>
          <p:cNvSpPr/>
          <p:nvPr/>
        </p:nvSpPr>
        <p:spPr>
          <a:xfrm>
            <a:off x="1066800" y="16559957"/>
            <a:ext cx="34337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86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4.0 — COVERAGE SCHEDULE</a:t>
            </a:r>
            <a:endParaRPr lang="en-US" sz="713" dirty="0"/>
          </a:p>
        </p:txBody>
      </p:sp>
      <p:sp>
        <p:nvSpPr>
          <p:cNvPr id="95" name="Shape 92"/>
          <p:cNvSpPr/>
          <p:nvPr/>
        </p:nvSpPr>
        <p:spPr>
          <a:xfrm>
            <a:off x="1066800" y="16790938"/>
            <a:ext cx="3333750" cy="952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96" name="Text 93"/>
          <p:cNvSpPr/>
          <p:nvPr/>
        </p:nvSpPr>
        <p:spPr>
          <a:xfrm>
            <a:off x="1066800" y="16924288"/>
            <a:ext cx="819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POLICY-A</a:t>
            </a:r>
            <a:endParaRPr lang="en-US" sz="675" dirty="0"/>
          </a:p>
        </p:txBody>
      </p:sp>
      <p:sp>
        <p:nvSpPr>
          <p:cNvPr id="97" name="Text 94"/>
          <p:cNvSpPr/>
          <p:nvPr/>
        </p:nvSpPr>
        <p:spPr>
          <a:xfrm>
            <a:off x="1066800" y="17071925"/>
            <a:ext cx="8191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</a:t>
            </a:r>
            <a:endParaRPr lang="en-US" sz="975" dirty="0"/>
          </a:p>
        </p:txBody>
      </p:sp>
      <p:sp>
        <p:nvSpPr>
          <p:cNvPr id="98" name="Shape 95"/>
          <p:cNvSpPr/>
          <p:nvPr/>
        </p:nvSpPr>
        <p:spPr>
          <a:xfrm>
            <a:off x="1066800" y="17295763"/>
            <a:ext cx="447303" cy="15240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9" name="Text 96"/>
          <p:cNvSpPr/>
          <p:nvPr/>
        </p:nvSpPr>
        <p:spPr>
          <a:xfrm>
            <a:off x="1114425" y="17314813"/>
            <a:ext cx="4282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b="1" spc="36" kern="0" dirty="0">
                <a:solidFill>
                  <a:srgbClr val="1C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600" dirty="0"/>
          </a:p>
        </p:txBody>
      </p:sp>
      <p:sp>
        <p:nvSpPr>
          <p:cNvPr id="100" name="Text 97"/>
          <p:cNvSpPr/>
          <p:nvPr/>
        </p:nvSpPr>
        <p:spPr>
          <a:xfrm>
            <a:off x="1905000" y="16914763"/>
            <a:ext cx="25717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FULL-TIME · EQUITY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1905000" y="17095738"/>
            <a:ext cx="2571750" cy="2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B0A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#1, embedded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1066800" y="17562463"/>
            <a:ext cx="3333750" cy="9525"/>
          </a:xfrm>
          <a:prstGeom prst="rect">
            <a:avLst/>
          </a:prstGeom>
          <a:solidFill>
            <a:srgbClr val="2E3137"/>
          </a:solidFill>
          <a:ln/>
        </p:spPr>
      </p:sp>
      <p:sp>
        <p:nvSpPr>
          <p:cNvPr id="103" name="Text 100"/>
          <p:cNvSpPr/>
          <p:nvPr/>
        </p:nvSpPr>
        <p:spPr>
          <a:xfrm>
            <a:off x="1066800" y="17695813"/>
            <a:ext cx="819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POLICY-B</a:t>
            </a:r>
            <a:endParaRPr lang="en-US" sz="675" dirty="0"/>
          </a:p>
        </p:txBody>
      </p:sp>
      <p:sp>
        <p:nvSpPr>
          <p:cNvPr id="104" name="Text 101"/>
          <p:cNvSpPr/>
          <p:nvPr/>
        </p:nvSpPr>
        <p:spPr>
          <a:xfrm>
            <a:off x="1066800" y="17843450"/>
            <a:ext cx="8191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0-to-1</a:t>
            </a:r>
            <a:endParaRPr lang="en-US" sz="975" dirty="0"/>
          </a:p>
        </p:txBody>
      </p:sp>
      <p:sp>
        <p:nvSpPr>
          <p:cNvPr id="105" name="Text 102"/>
          <p:cNvSpPr/>
          <p:nvPr/>
        </p:nvSpPr>
        <p:spPr>
          <a:xfrm>
            <a:off x="1905000" y="17686288"/>
            <a:ext cx="25717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3–6MO · 20–30 HR/WK</a:t>
            </a:r>
            <a:endParaRPr lang="en-US" sz="750" dirty="0"/>
          </a:p>
        </p:txBody>
      </p:sp>
      <p:sp>
        <p:nvSpPr>
          <p:cNvPr id="106" name="Text 103"/>
          <p:cNvSpPr/>
          <p:nvPr/>
        </p:nvSpPr>
        <p:spPr>
          <a:xfrm>
            <a:off x="1905000" y="17867263"/>
            <a:ext cx="2571750" cy="2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B0A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Prototype-to-launch ownership</a:t>
            </a:r>
            <a:endParaRPr lang="en-US" sz="900" dirty="0"/>
          </a:p>
        </p:txBody>
      </p:sp>
      <p:sp>
        <p:nvSpPr>
          <p:cNvPr id="107" name="Shape 104"/>
          <p:cNvSpPr/>
          <p:nvPr/>
        </p:nvSpPr>
        <p:spPr>
          <a:xfrm>
            <a:off x="1066800" y="18147283"/>
            <a:ext cx="3333750" cy="9525"/>
          </a:xfrm>
          <a:prstGeom prst="rect">
            <a:avLst/>
          </a:prstGeom>
          <a:solidFill>
            <a:srgbClr val="2E3137"/>
          </a:solidFill>
          <a:ln/>
        </p:spPr>
      </p:sp>
      <p:sp>
        <p:nvSpPr>
          <p:cNvPr id="108" name="Text 105"/>
          <p:cNvSpPr/>
          <p:nvPr/>
        </p:nvSpPr>
        <p:spPr>
          <a:xfrm>
            <a:off x="1066800" y="18280633"/>
            <a:ext cx="8191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41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POLICY-C</a:t>
            </a:r>
            <a:endParaRPr lang="en-US" sz="675" dirty="0"/>
          </a:p>
        </p:txBody>
      </p:sp>
      <p:sp>
        <p:nvSpPr>
          <p:cNvPr id="109" name="Text 106"/>
          <p:cNvSpPr/>
          <p:nvPr/>
        </p:nvSpPr>
        <p:spPr>
          <a:xfrm>
            <a:off x="1066800" y="18428271"/>
            <a:ext cx="8191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975" dirty="0"/>
          </a:p>
        </p:txBody>
      </p:sp>
      <p:sp>
        <p:nvSpPr>
          <p:cNvPr id="110" name="Text 107"/>
          <p:cNvSpPr/>
          <p:nvPr/>
        </p:nvSpPr>
        <p:spPr>
          <a:xfrm>
            <a:off x="1905000" y="18271108"/>
            <a:ext cx="25717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4–8 HR/MO</a:t>
            </a:r>
            <a:endParaRPr lang="en-US" sz="750" dirty="0"/>
          </a:p>
        </p:txBody>
      </p:sp>
      <p:sp>
        <p:nvSpPr>
          <p:cNvPr id="111" name="Text 108"/>
          <p:cNvSpPr/>
          <p:nvPr/>
        </p:nvSpPr>
        <p:spPr>
          <a:xfrm>
            <a:off x="1905000" y="18452083"/>
            <a:ext cx="2571750" cy="2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B0A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UX audit + design crit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1066800" y="18789253"/>
            <a:ext cx="3333750" cy="9525"/>
          </a:xfrm>
          <a:prstGeom prst="rect">
            <a:avLst/>
          </a:prstGeom>
          <a:solidFill>
            <a:srgbClr val="D9D4C8"/>
          </a:solidFill>
          <a:ln/>
        </p:spPr>
      </p:sp>
      <p:sp>
        <p:nvSpPr>
          <p:cNvPr id="113" name="Text 110"/>
          <p:cNvSpPr/>
          <p:nvPr/>
        </p:nvSpPr>
        <p:spPr>
          <a:xfrm>
            <a:off x="1066800" y="19046428"/>
            <a:ext cx="34337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86" kern="0" dirty="0">
                <a:solidFill>
                  <a:srgbClr val="3AA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5.0 — ENDORSEMENT</a:t>
            </a:r>
            <a:endParaRPr lang="en-US" sz="713" dirty="0"/>
          </a:p>
        </p:txBody>
      </p:sp>
      <p:sp>
        <p:nvSpPr>
          <p:cNvPr id="114" name="Text 111"/>
          <p:cNvSpPr/>
          <p:nvPr/>
        </p:nvSpPr>
        <p:spPr>
          <a:xfrm>
            <a:off x="1066800" y="19258359"/>
            <a:ext cx="3433763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i="1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"Reads the model card before he reads the design brief. Asks which feature you weighted least, then redesigns around that answer."</a:t>
            </a:r>
            <a:endParaRPr lang="en-US" sz="975" dirty="0"/>
          </a:p>
        </p:txBody>
      </p:sp>
      <p:sp>
        <p:nvSpPr>
          <p:cNvPr id="115" name="Text 112"/>
          <p:cNvSpPr/>
          <p:nvPr/>
        </p:nvSpPr>
        <p:spPr>
          <a:xfrm>
            <a:off x="1066800" y="19872722"/>
            <a:ext cx="34337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43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ENG.LEAD + DATA SCIENTIST · SAHAJ SOFTWARE</a:t>
            </a:r>
            <a:endParaRPr lang="en-US" sz="713" dirty="0"/>
          </a:p>
        </p:txBody>
      </p:sp>
      <p:sp>
        <p:nvSpPr>
          <p:cNvPr id="116" name="Shape 113"/>
          <p:cNvSpPr/>
          <p:nvPr/>
        </p:nvSpPr>
        <p:spPr>
          <a:xfrm>
            <a:off x="876300" y="20574000"/>
            <a:ext cx="3714750" cy="1602581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17" name="Text 114"/>
          <p:cNvSpPr/>
          <p:nvPr/>
        </p:nvSpPr>
        <p:spPr>
          <a:xfrm>
            <a:off x="1066800" y="20574000"/>
            <a:ext cx="3433763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68" kern="0" dirty="0">
                <a:solidFill>
                  <a:srgbClr val="1C1F2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6.0 — BIND COVERAGE</a:t>
            </a:r>
            <a:endParaRPr lang="en-US" sz="675" dirty="0"/>
          </a:p>
        </p:txBody>
      </p:sp>
      <p:sp>
        <p:nvSpPr>
          <p:cNvPr id="118" name="Text 115"/>
          <p:cNvSpPr/>
          <p:nvPr/>
        </p:nvSpPr>
        <p:spPr>
          <a:xfrm>
            <a:off x="1066800" y="20574000"/>
            <a:ext cx="34337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spc="-22" kern="0" dirty="0">
                <a:solidFill>
                  <a:srgbClr val="1C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in 30 minutes.</a:t>
            </a:r>
            <a:endParaRPr lang="en-US" sz="1500" dirty="0"/>
          </a:p>
        </p:txBody>
      </p:sp>
      <p:sp>
        <p:nvSpPr>
          <p:cNvPr id="119" name="Text 116"/>
          <p:cNvSpPr/>
          <p:nvPr/>
        </p:nvSpPr>
        <p:spPr>
          <a:xfrm>
            <a:off x="1066800" y="20574000"/>
            <a:ext cx="343376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3A3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premium. No pitch. We'll talk specifics.</a:t>
            </a:r>
            <a:endParaRPr lang="en-US" sz="863" dirty="0"/>
          </a:p>
        </p:txBody>
      </p:sp>
      <p:sp>
        <p:nvSpPr>
          <p:cNvPr id="120" name="Shape 117"/>
          <p:cNvSpPr/>
          <p:nvPr/>
        </p:nvSpPr>
        <p:spPr>
          <a:xfrm>
            <a:off x="1066800" y="20574000"/>
            <a:ext cx="3333750" cy="414338"/>
          </a:xfrm>
          <a:prstGeom prst="rect">
            <a:avLst/>
          </a:prstGeom>
          <a:solidFill>
            <a:srgbClr val="1C1F23"/>
          </a:solidFill>
          <a:ln/>
        </p:spPr>
      </p:sp>
      <p:sp>
        <p:nvSpPr>
          <p:cNvPr id="121" name="Text 118"/>
          <p:cNvSpPr/>
          <p:nvPr/>
        </p:nvSpPr>
        <p:spPr>
          <a:xfrm>
            <a:off x="1200150" y="20574000"/>
            <a:ext cx="52223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 →</a:t>
            </a:r>
            <a:endParaRPr lang="en-US" sz="975" dirty="0"/>
          </a:p>
        </p:txBody>
      </p:sp>
      <p:sp>
        <p:nvSpPr>
          <p:cNvPr id="122" name="Text 119"/>
          <p:cNvSpPr/>
          <p:nvPr/>
        </p:nvSpPr>
        <p:spPr>
          <a:xfrm>
            <a:off x="3467100" y="20574000"/>
            <a:ext cx="876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b="1" dirty="0">
                <a:solidFill>
                  <a:srgbClr val="B0A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CALENDLY · 30M</a:t>
            </a:r>
            <a:endParaRPr lang="en-US" sz="750" dirty="0"/>
          </a:p>
        </p:txBody>
      </p:sp>
      <p:sp>
        <p:nvSpPr>
          <p:cNvPr id="123" name="Shape 120"/>
          <p:cNvSpPr/>
          <p:nvPr/>
        </p:nvSpPr>
        <p:spPr>
          <a:xfrm>
            <a:off x="5581650" y="838200"/>
            <a:ext cx="1751335" cy="30956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24" name="Text 121"/>
          <p:cNvSpPr/>
          <p:nvPr/>
        </p:nvSpPr>
        <p:spPr>
          <a:xfrm>
            <a:off x="5695950" y="895350"/>
            <a:ext cx="1598935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1C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 05</a:t>
            </a:r>
            <a:endParaRPr lang="en-US" sz="1350" dirty="0"/>
          </a:p>
        </p:txBody>
      </p:sp>
      <p:sp>
        <p:nvSpPr>
          <p:cNvPr id="125" name="Text 122"/>
          <p:cNvSpPr/>
          <p:nvPr/>
        </p:nvSpPr>
        <p:spPr>
          <a:xfrm>
            <a:off x="7466335" y="895350"/>
            <a:ext cx="36595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CHARCOAL · AMBER · CHERENKOV</a:t>
            </a:r>
            <a:endParaRPr lang="en-US" sz="1350" dirty="0"/>
          </a:p>
        </p:txBody>
      </p:sp>
      <p:sp>
        <p:nvSpPr>
          <p:cNvPr id="126" name="Text 123"/>
          <p:cNvSpPr/>
          <p:nvPr/>
        </p:nvSpPr>
        <p:spPr>
          <a:xfrm>
            <a:off x="5581650" y="1414463"/>
            <a:ext cx="12302681" cy="2054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spc="-203" kern="0" dirty="0">
                <a:solidFill>
                  <a:srgbClr val="D9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Register.</a:t>
            </a:r>
            <a:endParaRPr lang="en-US" sz="8100" dirty="0"/>
          </a:p>
        </p:txBody>
      </p:sp>
      <p:sp>
        <p:nvSpPr>
          <p:cNvPr id="127" name="Text 124"/>
          <p:cNvSpPr/>
          <p:nvPr/>
        </p:nvSpPr>
        <p:spPr>
          <a:xfrm>
            <a:off x="5581650" y="3735437"/>
            <a:ext cx="902589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B0A9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failure modes named like industrial hazards — Phantom Confidence, Anchoring Bias, Stale Weight Drift, Trust Collapse. Each priced with P×I and mitigated with a shipped design pattern. Reads like a senior IC's brain.</a:t>
            </a:r>
            <a:endParaRPr lang="en-US" sz="1950" dirty="0"/>
          </a:p>
        </p:txBody>
      </p:sp>
      <p:sp>
        <p:nvSpPr>
          <p:cNvPr id="128" name="Text 125"/>
          <p:cNvSpPr/>
          <p:nvPr/>
        </p:nvSpPr>
        <p:spPr>
          <a:xfrm>
            <a:off x="5581650" y="5231681"/>
            <a:ext cx="1230268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PALETTE</a:t>
            </a:r>
            <a:endParaRPr lang="en-US" sz="1350" dirty="0"/>
          </a:p>
        </p:txBody>
      </p:sp>
      <p:sp>
        <p:nvSpPr>
          <p:cNvPr id="129" name="Shape 126"/>
          <p:cNvSpPr/>
          <p:nvPr/>
        </p:nvSpPr>
        <p:spPr>
          <a:xfrm>
            <a:off x="55816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C1F23"/>
          </a:solidFill>
          <a:ln/>
        </p:spPr>
      </p:sp>
      <p:sp>
        <p:nvSpPr>
          <p:cNvPr id="130" name="Shape 127"/>
          <p:cNvSpPr/>
          <p:nvPr/>
        </p:nvSpPr>
        <p:spPr>
          <a:xfrm>
            <a:off x="62865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D9D4C8"/>
          </a:solidFill>
          <a:ln/>
        </p:spPr>
      </p:sp>
      <p:sp>
        <p:nvSpPr>
          <p:cNvPr id="131" name="Shape 128"/>
          <p:cNvSpPr/>
          <p:nvPr/>
        </p:nvSpPr>
        <p:spPr>
          <a:xfrm>
            <a:off x="69913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FFB020"/>
          </a:solidFill>
          <a:ln/>
        </p:spPr>
      </p:sp>
      <p:sp>
        <p:nvSpPr>
          <p:cNvPr id="132" name="Shape 129"/>
          <p:cNvSpPr/>
          <p:nvPr/>
        </p:nvSpPr>
        <p:spPr>
          <a:xfrm>
            <a:off x="769620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3AA9FF"/>
          </a:solidFill>
          <a:ln/>
        </p:spPr>
      </p:sp>
      <p:sp>
        <p:nvSpPr>
          <p:cNvPr id="133" name="Shape 130"/>
          <p:cNvSpPr/>
          <p:nvPr/>
        </p:nvSpPr>
        <p:spPr>
          <a:xfrm>
            <a:off x="8401050" y="5541243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FF5A3A"/>
          </a:solidFill>
          <a:ln/>
        </p:spPr>
      </p:sp>
      <p:sp>
        <p:nvSpPr>
          <p:cNvPr id="134" name="Shape 131"/>
          <p:cNvSpPr/>
          <p:nvPr/>
        </p:nvSpPr>
        <p:spPr>
          <a:xfrm>
            <a:off x="5581650" y="8858771"/>
            <a:ext cx="11944350" cy="9525"/>
          </a:xfrm>
          <a:prstGeom prst="rect">
            <a:avLst/>
          </a:prstGeom>
          <a:solidFill>
            <a:srgbClr val="6C7077"/>
          </a:solidFill>
          <a:ln/>
        </p:spPr>
      </p:sp>
      <p:sp>
        <p:nvSpPr>
          <p:cNvPr id="135" name="Text 132"/>
          <p:cNvSpPr/>
          <p:nvPr/>
        </p:nvSpPr>
        <p:spPr>
          <a:xfrm>
            <a:off x="5581650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SOLVES FINDINGS</a:t>
            </a:r>
            <a:endParaRPr lang="en-US" sz="1050" dirty="0"/>
          </a:p>
        </p:txBody>
      </p:sp>
      <p:sp>
        <p:nvSpPr>
          <p:cNvPr id="136" name="Text 133"/>
          <p:cNvSpPr/>
          <p:nvPr/>
        </p:nvSpPr>
        <p:spPr>
          <a:xfrm>
            <a:off x="5581650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04 · 07</a:t>
            </a:r>
            <a:endParaRPr lang="en-US" sz="1425" dirty="0"/>
          </a:p>
        </p:txBody>
      </p:sp>
      <p:sp>
        <p:nvSpPr>
          <p:cNvPr id="137" name="Text 134"/>
          <p:cNvSpPr/>
          <p:nvPr/>
        </p:nvSpPr>
        <p:spPr>
          <a:xfrm>
            <a:off x="11706225" y="9173096"/>
            <a:ext cx="59943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47" kern="0" dirty="0">
                <a:solidFill>
                  <a:srgbClr val="6C70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AS</a:t>
            </a:r>
            <a:endParaRPr lang="en-US" sz="1050" dirty="0"/>
          </a:p>
        </p:txBody>
      </p:sp>
      <p:sp>
        <p:nvSpPr>
          <p:cNvPr id="138" name="Text 135"/>
          <p:cNvSpPr/>
          <p:nvPr/>
        </p:nvSpPr>
        <p:spPr>
          <a:xfrm>
            <a:off x="11706225" y="9396933"/>
            <a:ext cx="5994368" cy="318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D9D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/risks · expertise route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D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248714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F0A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RECOMMENDATION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6739146" y="762000"/>
            <a:ext cx="71065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147763"/>
            <a:ext cx="15697200" cy="3179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400" spc="-210" kern="0" dirty="0">
                <a:solidFill>
                  <a:srgbClr val="EF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</a:t>
            </a:r>
            <a:pPr algn="l" indent="0" marL="0">
              <a:lnSpc>
                <a:spcPct val="98000"/>
              </a:lnSpc>
              <a:buNone/>
            </a:pPr>
            <a:r>
              <a:rPr lang="en-US" sz="8400" i="1" spc="-210" kern="0" dirty="0">
                <a:solidFill>
                  <a:srgbClr val="F0A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Card. </a:t>
            </a:r>
            <a:pPr algn="l" indent="0" marL="0">
              <a:lnSpc>
                <a:spcPct val="98000"/>
              </a:lnSpc>
              <a:buNone/>
            </a:pPr>
            <a:r>
              <a:rPr lang="en-US" sz="8400" spc="-210" kern="0" dirty="0">
                <a:solidFill>
                  <a:srgbClr val="EFEC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the rest as destination pages.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914400" y="4555554"/>
            <a:ext cx="1275397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C8C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format borrows authority from a document type the visitor already knows — AI papers, EMRs, type specimens, USGS surveys, insurance docs. That recognition does in five seconds what bespoke portfolio language can't.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5586040"/>
            <a:ext cx="5384750" cy="1627808"/>
          </a:xfrm>
          <a:prstGeom prst="rect">
            <a:avLst/>
          </a:prstGeom>
          <a:solidFill>
            <a:srgbClr val="1A1A17"/>
          </a:solidFill>
          <a:ln w="9525">
            <a:solidFill>
              <a:srgbClr val="2A2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8725" y="5862265"/>
            <a:ext cx="1819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D4C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618187" y="5876553"/>
            <a:ext cx="4428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228725" y="6195640"/>
            <a:ext cx="48987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EF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Card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28725" y="6671890"/>
            <a:ext cx="4898783" cy="30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sheet for hiring Arpit. Founders read it in 60 seconds.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51550" y="5586040"/>
            <a:ext cx="5384825" cy="1627808"/>
          </a:xfrm>
          <a:prstGeom prst="rect">
            <a:avLst/>
          </a:prstGeom>
          <a:solidFill>
            <a:srgbClr val="1A1A17"/>
          </a:solidFill>
          <a:ln w="9525">
            <a:solidFill>
              <a:srgbClr val="2A26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5875" y="5862265"/>
            <a:ext cx="7106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/CASES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0422285" y="5876553"/>
            <a:ext cx="11759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STUDIES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765875" y="6195640"/>
            <a:ext cx="48988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EF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Chart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65875" y="6671890"/>
            <a:ext cx="4898860" cy="30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clients as patients. Bypasses NDA with format.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988775" y="5586040"/>
            <a:ext cx="5384750" cy="1627808"/>
          </a:xfrm>
          <a:prstGeom prst="rect">
            <a:avLst/>
          </a:prstGeom>
          <a:solidFill>
            <a:srgbClr val="1A1A17"/>
          </a:solidFill>
          <a:ln w="9525">
            <a:solidFill>
              <a:srgbClr val="2A26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03100" y="5862265"/>
            <a:ext cx="12393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4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/PRINCIPLES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142717" y="5876553"/>
            <a:ext cx="9926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PHILOSOPHY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2303100" y="6195640"/>
            <a:ext cx="48987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EF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Specimen Zine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303100" y="6671890"/>
            <a:ext cx="4898783" cy="30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"I refuse" plates. Pure craft proof through restraint.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14400" y="7366248"/>
            <a:ext cx="5384750" cy="1627808"/>
          </a:xfrm>
          <a:prstGeom prst="rect">
            <a:avLst/>
          </a:prstGeom>
          <a:solidFill>
            <a:srgbClr val="1A1A17"/>
          </a:solidFill>
          <a:ln w="9525">
            <a:solidFill>
              <a:srgbClr val="2A26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28725" y="7642473"/>
            <a:ext cx="8163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9EB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/CAREER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5434905" y="7656761"/>
            <a:ext cx="626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228725" y="7975848"/>
            <a:ext cx="48987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EF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Survey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28725" y="8452098"/>
            <a:ext cx="4898783" cy="30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years on one chart. Recruiter-skim optimized.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51550" y="7366248"/>
            <a:ext cx="5384825" cy="1627808"/>
          </a:xfrm>
          <a:prstGeom prst="rect">
            <a:avLst/>
          </a:prstGeom>
          <a:solidFill>
            <a:srgbClr val="1A1A17"/>
          </a:solidFill>
          <a:ln w="9525">
            <a:solidFill>
              <a:srgbClr val="2A26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5875" y="7642473"/>
            <a:ext cx="7106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/RISKS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0697245" y="7656761"/>
            <a:ext cx="9010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C6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EXPERTISE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765875" y="7975848"/>
            <a:ext cx="48988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EF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765875" y="8452098"/>
            <a:ext cx="4898860" cy="30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8A8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Failure-mode inventory. The brain of a senior IC.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988775" y="7366248"/>
            <a:ext cx="5384750" cy="1627808"/>
          </a:xfrm>
          <a:prstGeom prst="rect">
            <a:avLst/>
          </a:prstGeom>
          <a:solidFill>
            <a:srgbClr val="F0A878"/>
          </a:solidFill>
          <a:ln w="9525">
            <a:solidFill>
              <a:srgbClr val="F0A8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03100" y="7642473"/>
            <a:ext cx="6049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1A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/HIRE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5959435" y="7656761"/>
            <a:ext cx="11759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6C4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GOAL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2303100" y="7975848"/>
            <a:ext cx="489878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1A1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 + availability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2303100" y="8452098"/>
            <a:ext cx="4898783" cy="30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4A3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job: convert to booked meeting.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914400" y="9336956"/>
            <a:ext cx="16459200" cy="9525"/>
          </a:xfrm>
          <a:prstGeom prst="rect">
            <a:avLst/>
          </a:prstGeom>
          <a:solidFill>
            <a:srgbClr val="2A262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689381"/>
            <a:ext cx="10791825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8A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work: they </a:t>
            </a:r>
            <a:pPr algn="l" indent="0" marL="0">
              <a:lnSpc>
                <a:spcPct val="155000"/>
              </a:lnSpc>
              <a:buNone/>
            </a:pPr>
            <a:r>
              <a:rPr lang="en-US" sz="1350" i="1" dirty="0">
                <a:solidFill>
                  <a:srgbClr val="EF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8A7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instead of describing it. A designer who frames her own career as a model card has, in that gesture, already proven she thinks in failure modes, confidence intervals, and intended-use.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5932423" y="9917013"/>
            <a:ext cx="76200" cy="76200"/>
          </a:xfrm>
          <a:prstGeom prst="ellipse">
            <a:avLst/>
          </a:prstGeom>
          <a:solidFill>
            <a:srgbClr val="5FD0A5"/>
          </a:solidFill>
          <a:ln/>
          <a:effectLst>
            <a:outerShdw sx="100000" sy="100000" kx="0" ky="0" algn="bl" rotWithShape="0" blurRad="114300" dist="50800" dir="16200000">
              <a:srgbClr val="5FD0A5">
                <a:alpha val="10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6103873" y="9881295"/>
            <a:ext cx="134592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EFEC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TO BUILD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2026-05-15T13:00:11Z</dcterms:created>
  <dcterms:modified xsi:type="dcterms:W3CDTF">2026-05-15T13:00:11Z</dcterms:modified>
</cp:coreProperties>
</file>